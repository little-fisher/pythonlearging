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9f41bb8a84583" /><Relationship Type="http://schemas.openxmlformats.org/officeDocument/2006/relationships/extended-properties" Target="/docProps/app.xml" Id="R354a3e3db906482a" /><Relationship Type="http://schemas.openxmlformats.org/officeDocument/2006/relationships/officeDocument" Target="/ppt/presentation.xml" Id="R9ab76a8911ca48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1a0c33d4944920"/>
  </p:sldMasterIdLst>
  <p:notesMasterIdLst>
    <p:notesMasterId xmlns:r="http://schemas.openxmlformats.org/officeDocument/2006/relationships" r:id="R8d86fcbdd4be4280"/>
  </p:notesMasterIdLst>
  <p:sldIdLst>
    <p:sldId xmlns:r="http://schemas.openxmlformats.org/officeDocument/2006/relationships" id="256" r:id="R0841110b4b8e4f32"/>
    <p:sldId xmlns:r="http://schemas.openxmlformats.org/officeDocument/2006/relationships" id="257" r:id="R518e5443e357436d"/>
    <p:sldId xmlns:r="http://schemas.openxmlformats.org/officeDocument/2006/relationships" id="258" r:id="R8e109a64451c4cf7"/>
    <p:sldId xmlns:r="http://schemas.openxmlformats.org/officeDocument/2006/relationships" id="259" r:id="R6e2b94d400bf4a28"/>
    <p:sldId xmlns:r="http://schemas.openxmlformats.org/officeDocument/2006/relationships" id="260" r:id="R35501d12e12f45aa"/>
    <p:sldId xmlns:r="http://schemas.openxmlformats.org/officeDocument/2006/relationships" id="261" r:id="Re1c08939f78b44d8"/>
    <p:sldId xmlns:r="http://schemas.openxmlformats.org/officeDocument/2006/relationships" id="262" r:id="R2a16c6a803d94d01"/>
    <p:sldId xmlns:r="http://schemas.openxmlformats.org/officeDocument/2006/relationships" id="263" r:id="R6503b7ab24384b0a"/>
    <p:sldId xmlns:r="http://schemas.openxmlformats.org/officeDocument/2006/relationships" id="264" r:id="R9772f532355d48f9"/>
    <p:sldId xmlns:r="http://schemas.openxmlformats.org/officeDocument/2006/relationships" id="265" r:id="R0b81fdb7f25544cc"/>
    <p:sldId xmlns:r="http://schemas.openxmlformats.org/officeDocument/2006/relationships" id="266" r:id="R2cafdd6e3ee64e8e"/>
    <p:sldId xmlns:r="http://schemas.openxmlformats.org/officeDocument/2006/relationships" id="267" r:id="Rbee30a1f7eec474a"/>
    <p:sldId xmlns:r="http://schemas.openxmlformats.org/officeDocument/2006/relationships" id="268" r:id="R094fb0ab45e549e0"/>
    <p:sldId xmlns:r="http://schemas.openxmlformats.org/officeDocument/2006/relationships" id="269" r:id="R26c4cd0b441a44b9"/>
    <p:sldId xmlns:r="http://schemas.openxmlformats.org/officeDocument/2006/relationships" id="270" r:id="Rd459b1658d8a4eab"/>
    <p:sldId xmlns:r="http://schemas.openxmlformats.org/officeDocument/2006/relationships" id="271" r:id="Rfad5288b6f9646c1"/>
    <p:sldId xmlns:r="http://schemas.openxmlformats.org/officeDocument/2006/relationships" id="272" r:id="Rd5681cc9ca8e46d4"/>
    <p:sldId xmlns:r="http://schemas.openxmlformats.org/officeDocument/2006/relationships" id="273" r:id="R85d470af59154b0a"/>
    <p:sldId xmlns:r="http://schemas.openxmlformats.org/officeDocument/2006/relationships" id="274" r:id="R2266c7e5153345b0"/>
    <p:sldId xmlns:r="http://schemas.openxmlformats.org/officeDocument/2006/relationships" id="275" r:id="Ra035731c670d4e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7910ff3a3a4671" /><Relationship Type="http://schemas.openxmlformats.org/officeDocument/2006/relationships/slideMaster" Target="/ppt/slideMasters/slideMaster1.xml" Id="Rd31a0c33d4944920" /><Relationship Type="http://schemas.openxmlformats.org/officeDocument/2006/relationships/notesMaster" Target="/ppt/notesMasters/notesMaster1.xml" Id="R8d86fcbdd4be4280" /><Relationship Type="http://schemas.openxmlformats.org/officeDocument/2006/relationships/presProps" Target="/ppt/presProps.xml" Id="Rea961926d7c546bf" /><Relationship Type="http://schemas.openxmlformats.org/officeDocument/2006/relationships/viewProps" Target="/ppt/viewProps.xml" Id="R723c36ecba8f4dc2" /><Relationship Type="http://schemas.openxmlformats.org/officeDocument/2006/relationships/tableStyles" Target="/ppt/tableStyles.xml" Id="Rd50fcb9a11744ba5" /><Relationship Type="http://schemas.openxmlformats.org/officeDocument/2006/relationships/slide" Target="/ppt/slides/slide1.xml" Id="R0841110b4b8e4f32" /><Relationship Type="http://schemas.openxmlformats.org/officeDocument/2006/relationships/slide" Target="/ppt/slides/slide2.xml" Id="R518e5443e357436d" /><Relationship Type="http://schemas.openxmlformats.org/officeDocument/2006/relationships/slide" Target="/ppt/slides/slide3.xml" Id="R8e109a64451c4cf7" /><Relationship Type="http://schemas.openxmlformats.org/officeDocument/2006/relationships/slide" Target="/ppt/slides/slide4.xml" Id="R6e2b94d400bf4a28" /><Relationship Type="http://schemas.openxmlformats.org/officeDocument/2006/relationships/slide" Target="/ppt/slides/slide5.xml" Id="R35501d12e12f45aa" /><Relationship Type="http://schemas.openxmlformats.org/officeDocument/2006/relationships/slide" Target="/ppt/slides/slide6.xml" Id="Re1c08939f78b44d8" /><Relationship Type="http://schemas.openxmlformats.org/officeDocument/2006/relationships/slide" Target="/ppt/slides/slide7.xml" Id="R2a16c6a803d94d01" /><Relationship Type="http://schemas.openxmlformats.org/officeDocument/2006/relationships/slide" Target="/ppt/slides/slide8.xml" Id="R6503b7ab24384b0a" /><Relationship Type="http://schemas.openxmlformats.org/officeDocument/2006/relationships/slide" Target="/ppt/slides/slide9.xml" Id="R9772f532355d48f9" /><Relationship Type="http://schemas.openxmlformats.org/officeDocument/2006/relationships/slide" Target="/ppt/slides/slide10.xml" Id="R0b81fdb7f25544cc" /><Relationship Type="http://schemas.openxmlformats.org/officeDocument/2006/relationships/slide" Target="/ppt/slides/slide11.xml" Id="R2cafdd6e3ee64e8e" /><Relationship Type="http://schemas.openxmlformats.org/officeDocument/2006/relationships/slide" Target="/ppt/slides/slide12.xml" Id="Rbee30a1f7eec474a" /><Relationship Type="http://schemas.openxmlformats.org/officeDocument/2006/relationships/slide" Target="/ppt/slides/slide13.xml" Id="R094fb0ab45e549e0" /><Relationship Type="http://schemas.openxmlformats.org/officeDocument/2006/relationships/slide" Target="/ppt/slides/slide14.xml" Id="R26c4cd0b441a44b9" /><Relationship Type="http://schemas.openxmlformats.org/officeDocument/2006/relationships/slide" Target="/ppt/slides/slide15.xml" Id="Rd459b1658d8a4eab" /><Relationship Type="http://schemas.openxmlformats.org/officeDocument/2006/relationships/slide" Target="/ppt/slides/slide16.xml" Id="Rfad5288b6f9646c1" /><Relationship Type="http://schemas.openxmlformats.org/officeDocument/2006/relationships/slide" Target="/ppt/slides/slide17.xml" Id="Rd5681cc9ca8e46d4" /><Relationship Type="http://schemas.openxmlformats.org/officeDocument/2006/relationships/slide" Target="/ppt/slides/slide18.xml" Id="R85d470af59154b0a" /><Relationship Type="http://schemas.openxmlformats.org/officeDocument/2006/relationships/slide" Target="/ppt/slides/slide19.xml" Id="R2266c7e5153345b0" /><Relationship Type="http://schemas.openxmlformats.org/officeDocument/2006/relationships/slide" Target="/ppt/slides/slide20.xml" Id="Ra035731c670d4e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523ec1aa34e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e4dac8f17e4d1e" /><Relationship Type="http://schemas.openxmlformats.org/officeDocument/2006/relationships/notesMaster" Target="/ppt/notesMasters/notesMaster1.xml" Id="R610a872bd08a45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298de6bcc4ac1" /><Relationship Type="http://schemas.openxmlformats.org/officeDocument/2006/relationships/notesMaster" Target="/ppt/notesMasters/notesMaster1.xml" Id="R3f2c938c43304c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6885a1b2c74576" /><Relationship Type="http://schemas.openxmlformats.org/officeDocument/2006/relationships/notesMaster" Target="/ppt/notesMasters/notesMaster1.xml" Id="Rac05b188c11e49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69dc403ac34b8a" /><Relationship Type="http://schemas.openxmlformats.org/officeDocument/2006/relationships/notesMaster" Target="/ppt/notesMasters/notesMaster1.xml" Id="R4023beea2da745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b16ca12d384c91" /><Relationship Type="http://schemas.openxmlformats.org/officeDocument/2006/relationships/notesMaster" Target="/ppt/notesMasters/notesMaster1.xml" Id="Rf83e26f9187b4d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fdddbb1e2483a" /><Relationship Type="http://schemas.openxmlformats.org/officeDocument/2006/relationships/notesMaster" Target="/ppt/notesMasters/notesMaster1.xml" Id="Ref3e12f8b06647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de5bbc692f4c23" /><Relationship Type="http://schemas.openxmlformats.org/officeDocument/2006/relationships/notesMaster" Target="/ppt/notesMasters/notesMaster1.xml" Id="Rc407ff9bf2aa4b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fd3a251b1647ab" /><Relationship Type="http://schemas.openxmlformats.org/officeDocument/2006/relationships/notesMaster" Target="/ppt/notesMasters/notesMaster1.xml" Id="R9238e0badf5640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fdd1b29dd84e6b" /><Relationship Type="http://schemas.openxmlformats.org/officeDocument/2006/relationships/notesMaster" Target="/ppt/notesMasters/notesMaster1.xml" Id="Rf360f0b9268745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926e446eb54fbe" /><Relationship Type="http://schemas.openxmlformats.org/officeDocument/2006/relationships/notesMaster" Target="/ppt/notesMasters/notesMaster1.xml" Id="Ref94b4aa6b1f4b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e84938564c47e9" /><Relationship Type="http://schemas.openxmlformats.org/officeDocument/2006/relationships/notesMaster" Target="/ppt/notesMasters/notesMaster1.xml" Id="Rf2ca76e6119142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d2ab4d427f4e12" /><Relationship Type="http://schemas.openxmlformats.org/officeDocument/2006/relationships/notesMaster" Target="/ppt/notesMasters/notesMaster1.xml" Id="R561d9204e2a94e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b7e32ff05f479d" /><Relationship Type="http://schemas.openxmlformats.org/officeDocument/2006/relationships/notesMaster" Target="/ppt/notesMasters/notesMaster1.xml" Id="R5a11b270c01f42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1a7799bb504803" /><Relationship Type="http://schemas.openxmlformats.org/officeDocument/2006/relationships/notesMaster" Target="/ppt/notesMasters/notesMaster1.xml" Id="R023220d7b51042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62b6824a84422d" /><Relationship Type="http://schemas.openxmlformats.org/officeDocument/2006/relationships/notesMaster" Target="/ppt/notesMasters/notesMaster1.xml" Id="R19a9a68877ec4d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0c18560abf4940" /><Relationship Type="http://schemas.openxmlformats.org/officeDocument/2006/relationships/notesMaster" Target="/ppt/notesMasters/notesMaster1.xml" Id="R6933bfc979744e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94b2f9b1be4211" /><Relationship Type="http://schemas.openxmlformats.org/officeDocument/2006/relationships/notesMaster" Target="/ppt/notesMasters/notesMaster1.xml" Id="R25fca2a1588d41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c73f8bdcfc4795" /><Relationship Type="http://schemas.openxmlformats.org/officeDocument/2006/relationships/notesMaster" Target="/ppt/notesMasters/notesMaster1.xml" Id="R40aa6b88fd8a42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3850d241d24290" /><Relationship Type="http://schemas.openxmlformats.org/officeDocument/2006/relationships/notesMaster" Target="/ppt/notesMasters/notesMaster1.xml" Id="R86bbc483490145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e8197c23694301" /><Relationship Type="http://schemas.openxmlformats.org/officeDocument/2006/relationships/notesMaster" Target="/ppt/notesMasters/notesMaster1.xml" Id="R453d0e9b3e444e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https://docs.brew.sh/Installation</a:t>
            </a:r>
          </a:p>
          <a:p xmlns:a="http://schemas.openxmlformats.org/drawingml/2006/main">
            <a:r>
              <a:t>- https://formulae.brew.sh/formula/python%403.10</a:t>
            </a:r>
          </a:p>
          <a:p xmlns:a="http://schemas.openxmlformats.org/drawingml/2006/main">
            <a:r>
              <a:t>- https://repo.anaconda.com/</a:t>
            </a:r>
          </a:p>
          <a:p xmlns:a="http://schemas.openxmlformats.org/drawingml/2006/main">
            <a:r>
              <a:t>- Homebrew 官方安装页给出安装命令；Homebrew python@3.10 页面给出 `brew install python@3.10`；Anaconda 官方仓库提供 Miniconda 安装器。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https://docs.python.org/3.10/using/windows.html</a:t>
            </a:r>
          </a:p>
          <a:p xmlns:a="http://schemas.openxmlformats.org/drawingml/2006/main">
            <a:r>
              <a:t>- https://www.python.org/downloads/release/python-31011/</a:t>
            </a:r>
          </a:p>
          <a:p xmlns:a="http://schemas.openxmlformats.org/drawingml/2006/main">
            <a:r>
              <a:t>- https://www.python.org/ftp/python/3.10.11/</a:t>
            </a:r>
          </a:p>
          <a:p xmlns:a="http://schemas.openxmlformats.org/drawingml/2006/main">
            <a:r>
              <a:t>- https://repo.anaconda.com/</a:t>
            </a:r>
          </a:p>
          <a:p xmlns:a="http://schemas.openxmlformats.org/drawingml/2006/main">
            <a:r>
              <a:t>- Python 3.10 Windows 文档说明 Windows 通过安装器安装；Python 3.10.11 发布页与归档页可确认最后一个常规 Windows 安装器版本；Anaconda 官方仓库提供 Miniconda 安装器。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https://www.autodl.com/docs/quick_start/</a:t>
            </a:r>
          </a:p>
          <a:p xmlns:a="http://schemas.openxmlformats.org/drawingml/2006/main">
            <a:r>
              <a:t>- https://www.autodl.com/docs/python/</a:t>
            </a:r>
          </a:p>
          <a:p xmlns:a="http://schemas.openxmlformats.org/drawingml/2006/main">
            <a:r>
              <a:t>- https://www.autodl.com/docs/base_config/</a:t>
            </a:r>
          </a:p>
          <a:p xmlns:a="http://schemas.openxmlformats.org/drawingml/2006/main">
            <a:r>
              <a:t>- 官方文档说明：实例中的数据和环境关机后会保留；连续关机15天实例会被释放；镜像内 Python 版本固定，可再建 conda 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https://www.modelscope.cn/models/deepseek-ai/DeepSeek-R1-Distill-Qwen-14B</a:t>
            </a:r>
          </a:p>
          <a:p xmlns:a="http://schemas.openxmlformats.org/drawingml/2006/main">
            <a:r>
              <a:t>- https://www.modelscope.cn/deepseek-ai/DeepSeek-R1-Distill-Qwen-1.5B</a:t>
            </a:r>
          </a:p>
          <a:p xmlns:a="http://schemas.openxmlformats.org/drawingml/2006/main">
            <a:r>
              <a:t>- ModelScope 搜索摘要可见：DeepSeek-R1-Distill-Qwen-14B 基座为 Qwen2.5-14B；Distill 系列基于 DeepSeek-R1 生成样本微调。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https://developers.openai.com/api/reference/overview</a:t>
            </a:r>
          </a:p>
          <a:p xmlns:a="http://schemas.openxmlformats.org/drawingml/2006/main">
            <a:r>
              <a:t>- https://developers.openai.com/api/docs/guides/text</a:t>
            </a:r>
          </a:p>
          <a:p xmlns:a="http://schemas.openxmlformats.org/drawingml/2006/main">
            <a:r>
              <a:t>- OpenAI 官方模型页与模型对比页显示当前模型同时支持 `v1/responses` 和 `v1/chat/completions`；文本生成新文档更偏向推荐 Responses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官方文档示例显示：可用 previous_response_id 续接多轮；store:false 手动维护 history；Conversations API 提供 durable conversation state。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f519d2db24c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935de855ab43cb" /><Relationship Type="http://schemas.openxmlformats.org/officeDocument/2006/relationships/slideLayout" Target="/ppt/slideLayouts/slideLayout1.xml" Id="Re5937e9ad3e34aa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37e9ad3e3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739d623314ec6" /><Relationship Type="http://schemas.openxmlformats.org/officeDocument/2006/relationships/notesSlide" Target="/ppt/notesSlides/notesSlide1.xml" Id="R676bfb4d0ceb43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77667132e4649" /><Relationship Type="http://schemas.openxmlformats.org/officeDocument/2006/relationships/notesSlide" Target="/ppt/notesSlides/notesSlide2.xml" Id="Rf0fa7caa3f8944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fb0c9141f48f3" /><Relationship Type="http://schemas.openxmlformats.org/officeDocument/2006/relationships/notesSlide" Target="/ppt/notesSlides/notesSlide3.xml" Id="R57aab3731ac54d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c53df3aa14534" /><Relationship Type="http://schemas.openxmlformats.org/officeDocument/2006/relationships/notesSlide" Target="/ppt/notesSlides/notesSlide4.xml" Id="R3f46fd5946904d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206aaebc14278" /><Relationship Type="http://schemas.openxmlformats.org/officeDocument/2006/relationships/notesSlide" Target="/ppt/notesSlides/notesSlide5.xml" Id="R4060c44dc27047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b023546ca469c" /><Relationship Type="http://schemas.openxmlformats.org/officeDocument/2006/relationships/notesSlide" Target="/ppt/notesSlides/notesSlide6.xml" Id="Rfaa9a2b25d3e43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8b0a460294fa4" /><Relationship Type="http://schemas.openxmlformats.org/officeDocument/2006/relationships/notesSlide" Target="/ppt/notesSlides/notesSlide7.xml" Id="Rb2f1ed9594f64f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1847005f04e10" /><Relationship Type="http://schemas.openxmlformats.org/officeDocument/2006/relationships/notesSlide" Target="/ppt/notesSlides/notesSlide8.xml" Id="Reb08e675cf194a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7f21480604529" /><Relationship Type="http://schemas.openxmlformats.org/officeDocument/2006/relationships/notesSlide" Target="/ppt/notesSlides/notesSlide9.xml" Id="R8a22d1e994414e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8e3d3f4654b65" /><Relationship Type="http://schemas.openxmlformats.org/officeDocument/2006/relationships/notesSlide" Target="/ppt/notesSlides/notesSlide10.xml" Id="Rc9b020069d0446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7e5c2b8a4451f" /><Relationship Type="http://schemas.openxmlformats.org/officeDocument/2006/relationships/notesSlide" Target="/ppt/notesSlides/notesSlide11.xml" Id="R465b4551517043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fd0b4f3d6449f" /><Relationship Type="http://schemas.openxmlformats.org/officeDocument/2006/relationships/notesSlide" Target="/ppt/notesSlides/notesSlide12.xml" Id="R3d2ec84e65f642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2cd6e2f0c420c" /><Relationship Type="http://schemas.openxmlformats.org/officeDocument/2006/relationships/notesSlide" Target="/ppt/notesSlides/notesSlide13.xml" Id="R31b5a631bec343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b735a415c4323" /><Relationship Type="http://schemas.openxmlformats.org/officeDocument/2006/relationships/notesSlide" Target="/ppt/notesSlides/notesSlide14.xml" Id="R34e97f5b2fee40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aa997f8c5455e" /><Relationship Type="http://schemas.openxmlformats.org/officeDocument/2006/relationships/notesSlide" Target="/ppt/notesSlides/notesSlide15.xml" Id="Ra129cdd4df304a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e153356234317" /><Relationship Type="http://schemas.openxmlformats.org/officeDocument/2006/relationships/notesSlide" Target="/ppt/notesSlides/notesSlide16.xml" Id="R79d6ec68f66646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7bfe067ba4858" /><Relationship Type="http://schemas.openxmlformats.org/officeDocument/2006/relationships/notesSlide" Target="/ppt/notesSlides/notesSlide17.xml" Id="Rc1c5a64118c946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f6586a54645da" /><Relationship Type="http://schemas.openxmlformats.org/officeDocument/2006/relationships/notesSlide" Target="/ppt/notesSlides/notesSlide18.xml" Id="R93eb19a85dfc45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d1cb21ebf4e84" /><Relationship Type="http://schemas.openxmlformats.org/officeDocument/2006/relationships/notesSlide" Target="/ppt/notesSlides/notesSlide19.xml" Id="R743a6c3fe4d943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bffbf085f4272" /><Relationship Type="http://schemas.openxmlformats.org/officeDocument/2006/relationships/notesSlide" Target="/ppt/notesSlides/notesSlide20.xml" Id="Rc69e75d8c63e45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687EAA4-35AF-43C3-8EE0-8CCB59B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LLM CALLING &amp; LOCAL DEPLOYMENT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B835F7-B393-4F32-A9A4-150CE8C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大模型调用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与本地化部署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E8E15D-4A96-4791-AD59-659987E4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636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5F66"/>
                </a:solidFill>
              </a:defRPr>
            </a:pPr>
            <a:r>
              <a:rPr sz="1800" b="0">
                <a:solidFill>
                  <a:srgbClr val="5B5F66"/>
                </a:solidFill>
              </a:rPr>
              <a:t>从 Python 环境、AutoDL 与 ModelScope 部署，讲到 OpenAI 调用方式和记忆对话设计。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4E134C5-9F7D-4428-884F-1A98AD0C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19150"/>
            <a:ext cx="3733800" cy="4762500"/>
          </a:xfrm>
          <a:prstGeom xmlns:a="http://schemas.openxmlformats.org/drawingml/2006/main" prst="roundRect">
            <a:avLst>
              <a:gd name="adj" fmla="val 459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33A1C03-8B30-4753-8AC8-3D5E7E22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573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这节课会回答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7FFE27-B994-4549-9A45-FA5912E4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1. 模型到底是怎么被调用的？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2. 本地部署和云 API 有什么差别？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3. 为什么“记忆对话”不只是模型能力？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4. 14B 模型怎样更顺利地跑起来？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16044A-1160-489B-95CE-93975934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5368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BE5ED91-D01C-41D7-B3D2-47B1DE5B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TAKEAWAYS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01228DD-E4EB-4DBD-BCA3-213B928E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上完这节课，你至少会带走三件事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1060D266-633F-485A-9439-969E2B6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4EF73EA-FE26-4B04-8C6C-0B494761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D303097-1D63-4AB6-95C9-79B34432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看懂调用链路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E92F7A-79AB-4733-BAD4-53721E0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知道应用代码、模型接口、推理服务、模型权重之间是什么关系，不再把“调用”和“部署”混成一件事。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C969500-6B1E-4600-A417-A1A453C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35623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E00ED76-7B1C-436D-8F3F-7C59C02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D60A818-75FD-4F32-A1F7-3BDA1A2F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能准备运行环境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1794312-8F1C-4AB8-A45C-A4D80F4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09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知道为什么一个项目要对应一个 Python 环境，也知道本地算力不够时该怎么用 AutoDL 之类的平台补上。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81EAF7EC-7446-441F-BBBB-D3F71A94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623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6628A95-4D50-4A42-9364-4B2AC29A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676C16C-D0F2-4DA2-B4D7-942673D9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能解释记忆设计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01A4983-E4DA-45D7-8783-5A3B520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理解 previous_response_id、手动 history、本地记忆层分别解决什么问题，明白“记忆”首先是应用层能力。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D02B5C3-46D1-4F63-AF93-CD20B40A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7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这不是一节只讲概念的课，而是一节帮助你建立完整工程链路的课。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6DAB165-E8CE-4AED-92FB-B47AC70A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614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A550764-7EAC-42A2-8372-0B612AB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CALLING LAYERS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7A03E7-0896-4EC4-BD02-2BF8DCA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先把“大模型调用”拆成四层，后面的内容就不会乱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E2B44B98-D845-4032-B9E6-F3B74E3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9DDBF2B-8CBA-4618-B7AE-7FB7A22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3A4476-11D4-4D2E-AE4D-B120C54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应用层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AD5FC2D-B5E8-4F6D-A816-59C8118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你的业务逻辑、提示词、上下文、鉴权、日志。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40E65E2-E3F1-4039-AD03-9E8FCD1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FEBE56F-110B-42DA-93A4-6749490B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AF8F0B-0BE7-43B9-9CD0-35495717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接口层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74D42EF-C6B4-4E25-B9CE-0331E155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SDK、HTTP API、OpenAI-compatible API。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824FAE6-C82C-4E25-951F-99C0272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64D1026-9DD0-4D66-B623-9E661FE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48D4A14-0A31-425A-8D9A-6E5DAE0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推理服务层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FF38F80-940E-4ABD-9460-2844781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OpenAI 云服务、vLLM、Transformers 脚本等。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561A15F-1E89-4B84-8D11-B11522F0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E0302FA-5AC8-4E38-9D81-B9E47DC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F93F176-079F-41BF-A2C9-D0B00B5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模型层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03442A8-81C2-4CDF-AAD8-05E87C1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具体模型、权重、Tokenizer、上下文长度与推理配置。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9E44A50-8A56-4108-A022-BF770CA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很多人说自己“会调大模型”，其实只会其中一层；真正要建立的是四层之间的关联感。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83A7FA3-D95F-47DC-A600-5AC7222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1718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8C43CCC-4CA0-41EC-B6C1-C72E34A2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PYTHON ENVIRONMENT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687065F-3629-4E34-9CB9-1AE1FE97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开始之前，先把 Python 环境准备好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0D04D99-CED3-4A3A-A849-B3CFBDA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很多部署失败不是模型本身的问题，而是 Python、依赖、CUDA 和隔离环境没有处理好。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7FDD1178-3374-44AB-948D-BBE532A3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623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379862-A3AD-4E01-822A-54A1412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A051FF0-1FA6-4A38-8B6D-C8948D14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先看 Python 版本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C236B4-D8E6-403B-9CCC-6134D9DB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不同框架支持的 Python 版本不完全一样。装依赖之前，先确认你当前环境到底在跑哪个版本。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4953A589-C8B6-4A88-A536-F7B5E986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35623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557E287-0213-49DA-B24D-D905BFD8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089A77A-3430-4C89-B7AB-413AAB8B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再看 GPU / CUDA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62CA31-DE24-4C62-82D8-F2F227FC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14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如果你要跑本地推理，就不能只看代码，还要关心显卡、显存、CUDA 和对应的框架版本是否匹配。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A06C862-3CDB-4C82-89F6-92963D82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5623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7CC140-4F24-4B5A-B381-EDBE537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54FD46-62CA-47BF-BC3B-96187FE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不要污染系统环境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69171D8-3AE2-45F4-BBD9-7F4DE317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一个项目升级依赖，最怕把其他项目一起带崩。独立环境的意义，就是把这种风险隔离开。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AF9ED9AE-3E24-4B17-B897-C5976F8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9505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009F516-0244-40D3-8290-A3974723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9115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最基础的四个检查命令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A3BABA2-F333-4454-B4EB-ACF8BC7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91200"/>
            <a:ext cx="893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python --version    pip --version    nvidia-smi    python -c "import torch"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E9DDB09-0C3B-4667-9FBD-5082D0B9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0694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73ED1C0-7242-4DCE-9FB8-C60895C0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INSTALL BASICS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3C067E8-3CEA-43CB-98C3-ECB6E8A2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macOS 上如果还没有 Python 或 conda，可以先这样装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B46BA9-7359-4AD2-B862-FB8EA657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先把 macOS 基础运行环境装好，再去创建虚拟环境和安装模型依赖。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719ECB82-CA4E-4F6B-A35C-F5365A93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EC4E7F-16D8-4F46-9B50-2F05F3FC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macOS 安装 Python 3.10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5A285B0-6828-41DE-B1A3-2E8DDD69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49911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/bin/bash -c "$(curl -fsSL https://raw.githubusercontent.com/Homebrew/install/HEAD/install.sh)"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brew install python@3.10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python3.10 --version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6910A463-AC01-47A3-8957-570D9219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53340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0242FB4-6839-4884-BC65-34F61652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macOS 安装 Miniconda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8B9FA3D-956F-414B-B977-F515A3D8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9911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curl -O https://repo.anaconda.com/miniconda/Miniconda3-latest-MacOSX-arm64.sh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bash Miniconda3-latest-MacOSX-arm64.sh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conda --version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A668A95-F251-4BFF-9205-06FEE7BB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04F028-D350-4EB7-8E5D-C2A92C31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怎么区分 Miniconda 安装包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B08D84E-7A11-44AA-973B-C9B32DAE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49149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Apple Silicon Mac 常见是 `MacOSX-arm64.sh`；Intel Mac 常见是 `MacOSX-x86_64.sh`。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D5D57786-09AC-4524-A337-06A90A76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809D951-F272-47F4-8E1D-F0FC2750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054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装完后先做一次检查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A7F834D-2222-4513-9534-E4F06F37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43550"/>
            <a:ext cx="49149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至少确认三件事：`python3.10 --version`、`pip --version`、`conda --version`。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D3DC863-C852-416B-97D5-916233BB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66528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1884A96-4E09-4BBA-AD73-2AE8ED73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WINDOWS INSTALL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872AD56-FBD0-4D78-A351-A197F990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Windows 上如果还没有 Python 或 conda，可以先这样装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3580D8-8F4C-4D64-94DE-49B4769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Windows 这边更常见的是安装器方式，装好之后再进入 `venv` 或 `conda` 环境创建步骤。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109C93A-59A2-470D-B3DD-139C6F83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7BCD5A7-E89A-45DA-B144-665C05B7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Windows 安装 Python 3.10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CB915F3-05B7-4129-BF6C-84DD19F9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49911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Invoke-WebRequest -Uri https://www.python.org/ftp/python/3.10.11/python-3.10.11-amd64.exe -OutFile python-3.10.11-amd64.exe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Start-Process .\python-3.10.11-amd64.exe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py -3.10 --version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CCA3A7D-E693-450E-A30E-D3EE3E0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53340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0CBBC5-469B-48EC-A38D-496EA6B7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Windows 安装 Miniconda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999CDC5-0E4B-4586-B7F8-DDEB2C81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9911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Invoke-WebRequest -Uri https://repo.anaconda.com/miniconda/Miniconda3-latest-Windows-x86_64.exe -OutFile Miniconda3-latest-Windows-x86_64.exe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Start-Process .\Miniconda3-latest-Windows-x86_64.exe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conda --version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F4DB326F-D350-4B88-A6C3-79DBD876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B98375B-8078-4362-8333-52279C7A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为什么这里写 3.10.11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4901CCC-77A7-49C6-818B-09EBF0FC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49149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Python 3.10 系列后续进入 security-fix-only 阶段，官方说明 3.10.11 是最后一个仍提供 Windows 安装器的常规版本。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9DD0F4E2-8A95-43C6-B005-75B8A458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4D6947B-8BBA-4B5C-A3FA-A74BD1AD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054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安装完成后的检查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1214B5D-60AD-4D0A-B9B2-A22B5D2C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43550"/>
            <a:ext cx="49149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至少确认：`py -3.10 --version`、`pip --version`、`conda --version`。看到版本号再继续下一步。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A134A6-4818-4BA4-8E8C-79BB07ED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13153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215E4E9-8230-4885-A88F-3828CBD2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PROJECT ISOLATION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B1B366-8BD7-4C0A-8BDF-00580567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独立项目，尽量对应独立 Python 环境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78D10252-E065-4B40-A684-6F44EE00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26F5EEF-DB28-4742-A443-B4FA6BD1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venv 方案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CCBE7E2-11D9-4D3C-B78F-4798AC7A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4991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mkdir llm-demo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 llm-demo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python -m venv .venv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source .venv/bin/activate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pip install -U pip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pip install openai modelscope transformers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56B93251-D656-416D-8274-AE4374EC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53340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E7A46D-B9AB-4EE0-971C-1376B93A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conda 方案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9CA2A57-7236-4AA5-8D65-CB7460DF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991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conda create -n llm-demo python=3.10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conda activate llm-demo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pip install -U pip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pip install openai modelscope transformers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pip install vllm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6073F47B-C925-43B5-BCA1-F6D5F48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360670" cy="130619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5504E31-B275-449B-BEA2-61DB2469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venv 的优点与局限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0766531-D965-4F08-8DCB-10EEBFF7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914900" cy="656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优点：轻量、简单、跟随系统 Python，适合纯 Python 项目。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局限：切换 Python 版本、处理非 Python 依赖和科学计算栈时不如 conda 方便。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C68B2C2-3600-468A-97C9-B137A162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57700"/>
            <a:ext cx="5349875" cy="129349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8C93F5B-4A1D-46B2-B1BA-22EDFCA6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482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conda 的优点与局限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E9A689-8770-4BF2-83CF-096AB5A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86350"/>
            <a:ext cx="494093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优点：更适合管理 Python 版本、科学计算依赖和复杂环境。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局限：体积更大、初始化更慢，对只做轻量项目时可能显得偏重。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02DC42-5D97-47E6-982F-37110F58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7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如果你要明确使用 Python 3.10：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1. 本机已装 `python3.10` 时，可直接用 `python3.10 -m venv .venv`。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2. 没装或想少折腾时，可直接用 `conda create -n llm-demo python=3.10`。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89C8AD4-F4F7-4A15-8DBC-2F6E9A76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06986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E59703-8878-4D02-A376-DF74FCF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PROJECT ENV CONFIG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4E6C5A-77AE-49A6-AA39-2133C80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项目环境配置，用 .env 把变量和代码分开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CAEC7B-8388-4B4C-8F66-42C13B01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这一页先看懂：为什么 `api_key`、`base_url` 和 `model` 不建议直接写死在脚本里。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D2B10FA4-0329-4011-9F19-89D9D82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F99DE3-6FC1-42DE-9C28-D87ED6A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.env + 代码读取示例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5980618-DDDE-442B-9166-981DF25C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from dotenv import load_dotenv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from pathlib import Path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# 明确指定项目根目录下的 .env 文件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env_path = Path('.') / '.env'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load_dotenv(dotenv_path=env_path)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r>
              <a:t>api_key = os.getenv("OPENAI_API_KEY")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base_url = os.getenv("LOCAL_BASE_URL", "http://127.0.0.1:8000/v1")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local_model = os.getenv("LOCAL_MODEL")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333556E-7F39-4D0F-9AC6-B7DDA31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7BEABCC-6369-46C9-9FCD-D46EA16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为什么先配 .env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CF80FD3-5BE0-41C4-92CB-E5AC34EE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3409950" cy="675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把密钥、模型名、地址放在代码外面。换账号、换服务、换机器时，你只改配置，不改 demo 主体。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931C5C1-0CA8-4F7B-A2AB-B11162C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90" y="3410585"/>
            <a:ext cx="3815715" cy="1491615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9830CB0-E0B8-45E5-AF38-BB5F7C2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程序如何动态读取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ADCE230-14A8-4419-9355-9D6E29F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先用 `Path('.') / '.env'` 明确定位配置文件，再通过 `load_dotenv(dotenv_path=env_path)` 加载，后面继续用 `os.getenv()` 取值。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0D9615-5873-455F-8679-EF13DE0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13325"/>
            <a:ext cx="3815715" cy="160274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8F75BF-2240-4299-9EE6-A5E3452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这套项目里怎么切换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222999E-DA73-4C8A-AE8D-DB1ABA8C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86400"/>
            <a:ext cx="3352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OpenAI 读 `OPENAI_API_KEY` / `OPENAI_MODEL`；本地服务读 `LOCAL_BASE_URL` / `LOCAL_MODEL`，所以同一套调用结构能按环境切换。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1E3DDE1-EE30-4F16-B443-01C22FD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03188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5C871F1-A282-49B8-9E84-7064366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PYTHON DECOUPLE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2AC6923-72AC-4AEA-946F-BED888D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如果想把配置读取写得更集中，可以用 python-decouple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8916EF9-F0BB-4494-9BCE-47D825CB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它常见于项目的 settings 层，特别适合默认值和类型转换比较多的场景。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2CD5E78A-1C07-4BEF-8CE5-FE88257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D78695E-E118-409E-BD15-C0C5B174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python-decouple 示例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8CB26-BBCC-4DED-AB48-599BD7F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from decouple import config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r>
              <a:t>OPENAI_API_KEY = config("OPENAI_API_KEY")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OPENAI_MODEL = config("OPENAI_MODEL", default="gpt-5.6")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DEBUG = config("DEBUG", default=False, cast=bool)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PORT = config("PORT", default=8000, cast=int)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F6E032B3-2965-48CC-80AD-6C244BAF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16A729E-2B9C-40F0-85D7-9A03C692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你先知道什么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946A4F-D721-415B-A63E-7935772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`config()` 默认按字符串读取，也能配 `default` 和 `cast`，所以代码里不必手动写很多转换。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68E2B0E-7979-4DE2-BA61-6A6C4742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89045"/>
            <a:ext cx="3777615" cy="134239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E6F8211-D8E0-4695-8921-A5F448B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39243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它最适合哪里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6AEC2F8-9D8C-4264-9FAA-7E72E62B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436499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项目里配置项一多，尤其有 bool、int 这类类型时，`python-decouple` 会比 `os.getenv()` 更整洁。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988F2A1-4D9D-4607-BDC3-4144C390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52893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A41120-7C21-462F-AA4E-59B92130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CONFIG CHOICES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27082C-ABF0-4A9E-A3EB-953A3AE0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python-dotenv 和 python-decouple，解决同类问题但关注点不同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mlns:a="http://schemas.openxmlformats.org/drawingml/2006/main" x="400050" y="1847850"/>
          <a:ext xmlns:a="http://schemas.openxmlformats.org/drawingml/2006/main" cx="11391900" cy="3848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1809750"/>
                <a:gridCol w="2571750"/>
                <a:gridCol w="2381250"/>
                <a:gridCol w="2914650"/>
              </a:tblGrid>
              <a:tr h="76962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python-dotenv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python-decouple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你什么时候用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课堂理解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核心职责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把 .env 加载进环境变量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直接读取配置并支持 default/cast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先学原理 / 想把读取写集中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一个偏“加载”，一个偏“读取”</a:t>
                      </a:r>
                    </a:p>
                  </a:txBody>
                  <a:tcPr marL="91440" marR="91440" marT="45720" marB="45720"/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典型写法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load_dotenv(...) + os.getenv(...)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config("KEY", default=..., cast=int)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配置项少 / 配置项多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decouple 写法更短</a:t>
                      </a:r>
                    </a:p>
                  </a:txBody>
                  <a:tcPr marL="91440" marR="91440" marT="45720" marB="45720"/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类型处理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需要自己转 bool、int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内置 cast 处理类型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需要大量类型转换时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decouple 更省事</a:t>
                      </a:r>
                    </a:p>
                  </a:txBody>
                  <a:tcPr marL="91440" marR="91440" marT="45720" marB="45720"/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课堂建议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第一节先讲它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第二步再讲它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先会基础，再做工程化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先懂 dotenv，再学 decouple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070DC3B-D428-4570-8591-CD815366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两者不是非此即彼：可以先用 python-dotenv 入门，再在项目 settings 层过渡到 python-decouple。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2286E19-8F4A-4AA3-816D-26ACF6C0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55847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1840970-05B8-431E-807D-67F0EE65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AUTODL PLATFORM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D150535-3DC6-4584-9568-DAB711B8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如果本地算力不够，就把平台当成一台临时远程机器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B34B60-F53E-4D19-BF8A-4F70685D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理解“租实例 -&gt; 选镜像 -&gt; 配环境 -&gt; 跑项目”这条路径，比记按钮更重要。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529A9C24-0E8B-4178-A197-F280CA35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28600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38CF0B7-A1B8-4845-B8BC-594166C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9D02336-EE3A-477A-8961-9F2C304E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租实例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74CDE8D-5DD8-48C8-AD67-58F42261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选择地区、GPU、镜像和计费方式。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79351A92-3D7A-44D8-9110-ACD83B16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95550"/>
            <a:ext cx="228600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DD24F02-E9F4-47DE-BD26-8F41B78D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7DE08CB-803E-4399-8AA8-FEB142E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71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进入环境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41CBC8D-8CC5-450D-860F-2A2767F7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从控制台进入 JupyterLab、终端或 VSCode。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B519363F-68AB-44CE-90AC-70A6A281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228600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718B36C-BA98-4B0E-9680-0753533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B23BF1A-571C-447F-8712-685F9E6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创建环境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D19D763-9B7C-4408-A4BD-9C9E1F49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如果镜像自带 Python 版本不合适，就自己再建 conda 环境。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1134391D-8FCF-4380-BC94-BC4BCFA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286000" cy="2057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EC7AE98-E787-4858-884E-FE186E27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842BCCD-3863-4F38-AF5B-1CBA7995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71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运行项目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C0F5272-D0FA-4602-9D6F-6CEBED52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上传代码、安装依赖、下载模型、启动推理。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BE8049E-6ACE-4722-AEC1-2316D5F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5F66"/>
                </a:solidFill>
              </a:defRPr>
            </a:pPr>
            <a:r>
              <a:rPr sz="1425" b="0">
                <a:solidFill>
                  <a:srgbClr val="5B5F66"/>
                </a:solidFill>
              </a:rPr>
              <a:t>你只需要记住两点：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5F66"/>
                </a:solidFill>
              </a:defRPr>
            </a:pPr>
            <a:r>
              <a:rPr sz="1425" b="0">
                <a:solidFill>
                  <a:srgbClr val="5B5F66"/>
                </a:solidFill>
              </a:rPr>
              <a:t>1. AutoDL 官方文档说明，关机后数据和环境会保留，但连续关机 15 天实例会被释放。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5F66"/>
                </a:solidFill>
              </a:defRPr>
            </a:pPr>
            <a:r>
              <a:rPr sz="1425" b="0">
                <a:solidFill>
                  <a:srgbClr val="5B5F66"/>
                </a:solidFill>
              </a:rPr>
              <a:t>2. 实例运行中会持续计费，不用时记得关机。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8CA9993-A621-4896-8700-CAD0772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77203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B676358-DE94-4118-B2D5-F8D37AE9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TARGET MODEL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F2AF004-330B-48BD-BE8E-EEBD870E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案例模型：DeepSeek-R1-Distill-Qwen-14B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69A533-F461-4772-B256-A337A02A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这节课以 ModelScope 上的 deepseek-ai/DeepSeek-R1-Distill-Qwen-14B 作为主要案例。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8BB32EAF-5AD6-4A5E-A38E-E2735002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953000" cy="33528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A2CC9CC-63BE-40E3-9107-F8121C69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为什么选它来讲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76F8981-C2FB-4D25-83A6-B0C52549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1. 属于 DeepSeek-R1-Distill 系列。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2. 14B 级别比超大模型更适合做本地部署演示。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3. 既能引出推理模型思路，也能让你感受到显卡资源和量化取舍的重要性。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4. 很适合拿来解释“模型页信息”和“部署步骤”之间的关系。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2561EEC-CE1F-4F76-A48B-8D806E94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53530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1E94FF1-BBDE-4FAA-9765-9B7AA3F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看模型页时先看什么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77A7C6-7E32-4816-8349-F510C94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4933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先看模型名称、基座、权重说明、Tokenizer 与配置要求，再决定用什么框架和什么启动方式。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A4DEBBD3-458D-4263-B01C-48A9956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29050"/>
            <a:ext cx="53530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DF8363D-E417-45A2-982B-CE88A4E5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你需要记住的核心点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461D466-4235-42AE-B123-4E1B90D6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493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模型页不是单纯的下载页面，它更像部署入口和说明书，决定你后面怎么加载、怎么推理、怎么暴露服务。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1B26C87-5FB4-41A6-A552-86DFE0AD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57040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82412E8-ABD3-47EA-A8BC-05556615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LOCAL DEPLOYMENT 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93316E9-8B02-4DD9-B2D7-4D9033F1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把本地化部署先记成四步，你就不会轻易迷路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BB8CE1D-BAC6-4973-B555-DEEF3931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57525"/>
            <a:ext cx="4381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63EA3C03-2ABA-41C8-A8A3-4FA78BEE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4381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32D48249-ABA5-4819-A46B-56BFB06F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57525"/>
            <a:ext cx="4381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00EB14B6-0FF4-421F-91AC-9B17D303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209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81FD5D4-F00E-40FC-A34A-A7CA1B48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5C063AB-64A9-4B35-BCB3-018E1ACD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下载模型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7C08A47-63B5-4588-9DE1-EB7FD640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从 ModelScope 拿到权重、配置和 tokenizer。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2D2FF23-49F7-4C39-8CD4-58B0744D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2209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C029D56-4E39-487F-AA4D-13145832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5320A99-620D-4432-AF0D-BA7961C0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242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启动推理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064A461-AB16-4FDF-9CAE-B4EBFE7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623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用 Transformers、vLLM 或量化运行时把模型跑起来。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EA5A9748-09D6-461C-8513-0811981C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209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A6FA6D7-0435-42B8-A6E3-9AD46CD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0D506B2-7BAF-4DE7-ABCB-B69A8D26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暴露接口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385DCE8-376A-4224-999E-9D33C769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做成脚本、Web API 或 OpenAI-compatible API。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BB82B48A-7847-4EA0-A4FB-4332D5D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209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C0878F8-7BA3-4F53-AEE7-3E56655D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38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E8F68D0-C516-4067-8AC2-2FB37FD0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接入应用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29240CD-EAC4-48BC-A783-A7A652C5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补上提示词、上下文、日志、权限和记忆层。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9A2FFC0-718F-433B-B288-D0DA596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39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真正的工程挑战不是“能不能下载模型”，而是能不能把下载、推理、接口、应用接入和记忆层连成一条稳定链路。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BD9BCCE-0B9B-46C8-A4D9-289B67DC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41715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4E24E5A-DC98-4B04-8E9C-6AC5777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DEPLOYMENT OPTIONS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25A2085-21F8-4EEF-A859-4DB60DE2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不同部署方式，适合不同资源条件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mlns:a="http://schemas.openxmlformats.org/drawingml/2006/main" x="400050" y="1847850"/>
          <a:ext xmlns:a="http://schemas.openxmlformats.org/drawingml/2006/main" cx="11391900" cy="3848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1809750"/>
                <a:gridCol w="2571750"/>
                <a:gridCol w="2381250"/>
                <a:gridCol w="2914650"/>
              </a:tblGrid>
              <a:tr h="76962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方式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典型工具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限制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适合场景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全精度本地推理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Transformers / vLLM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更接近原模型行为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显存和内存压力更大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实验室服务器、共享 GPU</a:t>
                      </a:r>
                    </a:p>
                  </a:txBody>
                  <a:tcPr marL="91440" marR="91440" marT="45720" marB="45720"/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量化本地推理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GPTQ / AWQ / GGUF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资源占用更低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精度和速度需要权衡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单卡演示、个人工作站</a:t>
                      </a:r>
                    </a:p>
                  </a:txBody>
                  <a:tcPr marL="91440" marR="91440" marT="45720" marB="45720"/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OpenAI-compatible 服务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vLLM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前后端接入方式统一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仍然需要自己运维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项目实训、团队协作</a:t>
                      </a:r>
                    </a:p>
                  </a:txBody>
                  <a:tcPr marL="91440" marR="91440" marT="45720" marB="45720"/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云 API 托管调用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OpenAI 等平台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上手快、部署轻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成本和数据边界受平台限制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快速原型、课程入门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DBC904-58F6-411D-B8AF-8CF06A1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没有哪一种方案天然最好，真正的选择标准永远是：你的硬件、你的场景、你的维护能力。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C441559-049A-4455-A009-07BA66DE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21583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F724BB-7BB1-4247-AF36-356665F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OPENAI CALLING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AC2FECF-B3D8-4B8D-9D3D-7E7275A2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OpenAI 常见三种对接方式：SDK、Chat Completions、HTTP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3342322-6CC2-4AC4-9F3A-B032358D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无论你用什么语言，本质都是把模型名、输入内容和认证信息发到接口上。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7C7D9792-4F8D-40F4-8320-ADF20003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3429000" cy="2895600"/>
          </a:xfrm>
          <a:prstGeom xmlns:a="http://schemas.openxmlformats.org/drawingml/2006/main" prst="roundRect">
            <a:avLst>
              <a:gd name="adj" fmla="val 592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C099BA-C442-4838-9609-3994A9D2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Python SDK / Responses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7F0FDA3-E722-47DA-AA82-892D9A7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3086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from openai import OpenAI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client = OpenAI()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response = client.responses.create(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model="gpt-5.6",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input="Explain local deployment."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print(response.output_text)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7CCE46E-1E14-4C3C-A56F-8A3E64B4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3429000" cy="2895600"/>
          </a:xfrm>
          <a:prstGeom xmlns:a="http://schemas.openxmlformats.org/drawingml/2006/main" prst="roundRect">
            <a:avLst>
              <a:gd name="adj" fmla="val 592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20EE9AD-1842-4920-B60F-3B87EAB5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Python SDK / Chat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FDEB60C-7C1B-4C3C-83A7-12AC2173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3086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from openai import OpenAI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client = OpenAI()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completion = client.chat.completions.create(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model="gpt-5.6",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messages=[{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"role":"user",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"content":"Write a bedtime story."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}],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print(completion.choices[0].message.content)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2342BE3-4D81-44D8-80CC-FCDFA11B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3429000" cy="2895600"/>
          </a:xfrm>
          <a:prstGeom xmlns:a="http://schemas.openxmlformats.org/drawingml/2006/main" prst="roundRect">
            <a:avLst>
              <a:gd name="adj" fmla="val 592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BD94C4F-1BB7-4CB2-A6FA-7022F822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HTTP / cURL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507F04-C1C1-4E1F-AF4C-3F8074F4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3086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curl https://api.openai.com/v1/responses \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-H "Content-Type: application/json" \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-H "Authorization: Bearer $OPENAI_API_KEY" \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-d '{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"model":"gpt-5.6",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"input":"Write a short bedtime story about a unicorn."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}'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103EA9A-83FD-4A19-AC63-87857F14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53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如果你的语言能发 HTTP 请求，就一定能对接模型服务；SDK 只是把认证、请求体和响应解析封装得更方便。兼容接口通常也会复用这套调用风格。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AEA8150-7DDE-4E73-A4EB-EC19E29D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66291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3016FDB-12D0-4D5E-B693-A11C45A8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DEEPSEEK CALLING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5362DB-8854-4F2C-9A0D-E0FDA4D5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如果服务兼容 OpenAI 风格，切换时通常只要改三件事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AD7BD35-982A-4528-A85E-D548C23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最常见的变化是：`api_key`、`base_url` 和 `model`。调用结构本身往往可以保持很像。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C20EBB28-B3A8-40B0-93BB-E83A0DF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78AF098-A04A-4472-BACB-EA22C1B5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DeepSeek 兼容接口示例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4F88890-2E66-4FEF-8F71-D762A828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import os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from openai import OpenAI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client = OpenAI(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api_key=os.environ.get("DEEPSEEK_API_KEY"),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base_url="https://api.deepseek.com"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)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response = client.chat.completions.create(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model="deepseek-v4-pro",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messages=[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{"role": "system", "content": "You are a helpful assistant"},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{"role": "user", "content": "Hello"},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],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stream=False,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reasoning_effort="high",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extra_body={"thinking": {"type": "enabled"}}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)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print(response.choices[0].message.content)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C9CB50D-60CD-4489-942D-6A0E652A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A61A839-19CD-423E-B8A7-4EFD4610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你首先要看什么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E31EA0E-11E2-4E2A-9D9B-BA86E2C4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先看服务是否兼容 OpenAI 风格接口。如果兼容，很多时候你不需要重写整套调用逻辑。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55F8E2FD-FFA5-49D6-A55E-7022B275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099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05553D4-5538-429E-931E-5D5E8E70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切换时最常改的三项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AA99B02-0B2E-499A-A4AB-00C8775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1. `api_key`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2. `base_url`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3. `model`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E368921-9B08-474E-9066-EFAEAD16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0"/>
            <a:ext cx="37719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986862D-FA0B-4C60-A2A6-A53F4F5D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你可以把它理解成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62CED52-639B-435A-B89B-F3E45757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86400"/>
            <a:ext cx="3352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SDK 没变，真正变化的是“你把请求发给谁”。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8134DD4-6C0D-4DFA-AA2F-202D7FF2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61374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1D652A2-6B48-4667-A430-84FC558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MEMORY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EF7CDCB-AFDD-4222-BDA9-3EEAE7CE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记忆对话不只一种做法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98559920-2105-4F33-97AF-26D2C083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BC41A67-EA4E-4B7E-B0D7-114C1CD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9A4C69A-ACDE-44B4-B328-B2DB87CA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previous_response_id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975C35-9A13-407E-B001-8298DD54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适合短链式多轮。下一轮请求带上上一轮 response id，平台会沿着上一轮上下文继续生成。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9F0EE81A-800B-4D10-84F9-6BBD5372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E7D53B4-61DE-4B12-8A6B-706DE00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0ABE643-DED5-4277-B8BF-AD031022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146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store:false + history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B19C800-7D61-460E-BDEF-D865037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由应用自己保存历史，再决定哪些 user / assistant / reasoning items 重新送回模型。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AFEC1D2-BC25-4C94-B91B-15CEECC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83577CB-A2DC-4BF9-9CD5-7F575C93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E892D4B-075D-442B-BAE7-6355D77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Conversations API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57E45D7-80A7-4A4F-A9E9-26286602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把会话状态做成长生命周期对象，更适合跨会话、跨设备和跨任务继续使用。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67A4E7B-6E6C-4F2C-8A64-027EE18A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9060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7E9BCA9-8D34-44A7-94BF-560A2F74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最直观的多轮对话写法：直接传 messages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85E6309-9AC2-4B59-90D8-BC2B021E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956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[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{"role":"user","content":"What's the highest mountain in the world?"},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{"role":"assistant","content":"The highest mountain in the world is Mount Everest."},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{"role":"user","content":"What is the second?"}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]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D76284-026B-424D-A04B-29E96B2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这种方式最容易理解：模型并不是“记住”了，而是你把前面的对话历史再次发给了它。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BF623BF-5C27-452E-87F8-33BA1074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15525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D465AEB-1DB9-47BE-90D0-9C11C405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LOCAL MEMORY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4776477-14BC-4CFB-BC9A-9DA302C9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本地模型通常要自己做记忆层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F8CA08F0-76FC-4955-9FDD-FEC5DCF4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52768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6592905-650A-4C53-BB89-81FD83AB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最近对话历史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CE31D3-1C95-4C9A-8EF9-FCFC67C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直接拼接最近 N 轮消息，最简单，也最常见。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FDF2FB68-6164-41B8-81DD-53FA60C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52768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BC5BE96-EA05-492C-9C13-3A010AA2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摘要记忆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C0E521C-01A7-4CFA-A2B7-8D89C146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把长对话压缩成 summary，控制上下文长度。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D0D3886C-ABC4-4FA9-BE3D-F1EF60C4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52768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539BB72-968E-4B7B-A0D4-14781E25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用户画像记忆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05DA20-CFEC-4416-957D-BAFBA56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保存偏好、角色、业务参数等长期信息。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0E9FA37D-53D8-4E2F-81DF-86554C83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52768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F7909F5-D4F5-4842-BB1D-E3C64497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检索式记忆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E43AF6-CD89-4914-B96B-7839D4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434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把历史片段向量化，按问题召回相关上下文。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E13AFF6-C6C0-4D40-9D58-35B729CB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101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真正的工程能力不在于“模型记住了什么”，而在于你决定保存什么、压缩什么、何时召回、何时清理。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9633A06-789D-44C2-AEDA-FED498C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778095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5FB171-09C1-410D-BA32-4FBE7352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NEXT STEPS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7AD742A-F7C2-497E-9267-2C10F031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课后你已经可以自己动手做三件事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F2D5CCC-D8BB-44FF-9D31-E3D303E2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6BAE3C6-5B2A-4683-8ACC-76CD8B5C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620BE29-A8C4-44A5-8DDB-A9ED52F1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建环境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B1FFF0-08BF-42E4-B3D3-ECD00718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自己创建一个独立 Python 环境，装上最小依赖，并完成一次基础检查命令验证。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5FAE6CB-1203-4AAD-803C-FD4C35D9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30AB0B4-6984-4B6D-B3B6-7A88191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CE6032-EBDF-4102-9260-4B2DA72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发请求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53D303F-1E61-47DC-AB48-A55D860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自己用 Python SDK 或 HTTP 方式发起一次模型调用，观察请求字段和返回结果结构。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81D4099-9654-4782-B8BB-6B5891A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74E1662-C054-460D-B855-59DD2DDB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1093802-DFB1-418A-A0AF-3F54B30F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画链路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EF57FE3-8B54-4277-984A-8DE883E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用自己的话画出一条本地部署链路：模型下载、推理启动、接口暴露、应用接入、记忆层设计。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7A73FB7-4623-406A-8052-A5F3AADE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101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如果你能把“环境、部署、调用、记忆”四件事串起来复述清楚，就已经真正入门了大模型工程化。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17B3637-ED63-4ADF-9168-3AB6BB7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251245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5FB171-09C1-410D-BA32-4FBE7352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HOMEWORK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7AD742A-F7C2-497E-9267-2C10F031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课后作业：做一个可视化 DeepSeek 对话页面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F2D5CCC-D8BB-44FF-9D31-E3D303E2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6BAE3C6-5B2A-4683-8ACC-76CD8B5C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620BE29-A8C4-44A5-8DDB-A9ED52F1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做页面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B1FFF0-08BF-42E4-B3D3-ECD00718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实现一个可视化聊天页面，至少包含输入框、发送按钮和消息展示区域，能够调用 DeepSeek 接口返回内容。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5FAE6CB-1203-4AAD-803C-FD4C35D9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30AB0B4-6984-4B6D-B3B6-7A88191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CE6032-EBDF-4102-9260-4B2DA72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切窗口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53D303F-1E61-47DC-AB48-A55D860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支持切换不同对话窗口。每个窗口都要有自己的消息列表，切换后能看到对应历史，而不是所有内容混在一起。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81D4099-9654-4782-B8BB-6B5891A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74E1662-C054-460D-B855-59DD2DDB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1093802-DFB1-418A-A0AF-3F54B30F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做多轮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EF57FE3-8B54-4277-984A-8DE883E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把当前窗口的历史消息继续传给 DeepSeek，实现真正的多轮对话，并验证第二问能够接上第一轮上下文。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7A73FB7-4623-406A-8052-A5F3AADE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101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如果你能把“页面调用、窗口切换、多轮对话”三件事串起来完成，就已经从接口演示走到了一个最小可用 AI 应用。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17B3637-ED63-4ADF-9168-3AB6BB7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25124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2026-07-31T10:52:25.7940000Z</dcterms:created>
  <dcterms:modified xsi:type="dcterms:W3CDTF">2026-07-31T10:52:25.7940000Z</dcterms:modified>
</coreProperties>
</file>