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61" r:id="rId8"/>
    <p:sldId id="263" r:id="rId9"/>
    <p:sldId id="264" r:id="rId10"/>
    <p:sldId id="268" r:id="rId11"/>
    <p:sldId id="269" r:id="rId12"/>
    <p:sldId id="270" r:id="rId1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t>项目整合重点</a:t>
            </a:r>
          </a:p>
        </c:rich>
      </c:tx>
      <c:layout/>
      <c:overlay val="0"/>
    </c:title>
    <c:autoTitleDeleted val="0"/>
    <c:plotArea>
      <c:layout/>
      <c:barChart>
        <c:barDir val="col"/>
        <c:grouping val="none"/>
        <c:varyColors val="0"/>
        <c:ser>
          <c:idx val="0"/>
          <c:order val="0"/>
          <c:tx>
            <c:strRef>
              <c:f>重点</c:f>
              <c:strCache>
                <c:ptCount val="1"/>
                <c:pt idx="0">
                  <c:v>重点</c:v>
                </c:pt>
              </c:strCache>
            </c:strRef>
          </c:tx>
          <c:spPr>
            <a:solidFill>
              <a:srgbClr val="3D8DFF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{"接口接入","知识检索","Agent 编排","联调发布"}</c:f>
              <c:strCache>
                <c:ptCount val="4"/>
                <c:pt idx="0">
                  <c:v>接口接入</c:v>
                </c:pt>
                <c:pt idx="1">
                  <c:v>知识检索</c:v>
                </c:pt>
                <c:pt idx="2">
                  <c:v>Agent 编排</c:v>
                </c:pt>
                <c:pt idx="3">
                  <c:v>联调发布</c:v>
                </c:pt>
              </c:strCache>
            </c:strRef>
          </c:cat>
          <c:val>
            <c:numRef>
              <c:f>{3,4,4,5}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5B5F66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w="9525">
              <a:solidFill>
                <a:srgbClr val="B8BCC4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t>级别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5B5F66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  <c:majorUnit val="1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gap"/>
    <c:showDLblsOverMax val="0"/>
  </c:chart>
  <c:spPr>
    <a:solidFill>
      <a:srgbClr val="FFFFFF"/>
    </a:solidFill>
    <a:ln w="0">
      <a:solidFill>
        <a:srgbClr val="FFFFFF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/Users/xieyucheng/Documents/python_projects/chat_app/app.py</a:t>
            </a:r>
          </a:p>
          <a:p>
            <a:r>
              <a:t>- /Users/xieyucheng/Documents/python_projects/chat_app/agent/agent_graph.py</a:t>
            </a:r>
          </a:p>
          <a:p>
            <a:r>
              <a:t>- /Users/xieyucheng/Documents/python_projects/chat_app/utils/java_service.py</a:t>
            </a:r>
          </a:p>
          <a:p>
            <a:r>
              <a:t>- /Users/xieyucheng/Documents/python_projects/chat_app/services/integration/java_notification_service.py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/Users/xieyucheng/Documents/python_projects/chat_app/utils/java_service.py</a:t>
            </a:r>
          </a:p>
          <a:p>
            <a:r>
              <a:t>- /Users/xieyucheng/Documents/python_projects/chat_app/utils/auth_utils.py</a:t>
            </a:r>
          </a:p>
          <a:p>
            <a:r>
              <a:t>- /Users/xieyucheng/Documents/python_projects/chat_app/docs/思考过程接口.md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/Users/xieyucheng/Documents/python_projects/chat_app/app.py</a:t>
            </a:r>
          </a:p>
          <a:p>
            <a:r>
              <a:t>- /Users/xieyucheng/Documents/python_projects/chat_app/agent/agent_graph.py</a:t>
            </a:r>
          </a:p>
          <a:p>
            <a:r>
              <a:t>- /Users/xieyucheng/Documents/python_projects/chat_app/services/rag/rag_service.py</a:t>
            </a:r>
          </a:p>
          <a:p>
            <a:r>
              <a:t>- /Users/xieyucheng/Documents/python_projects/chat_app/routes/vector_management_routes.py</a:t>
            </a:r>
          </a:p>
          <a:p>
            <a:r>
              <a:t>- /Users/xieyucheng/Documents/python_projects/chat_app/utils/think_process_mq.py</a:t>
            </a:r>
          </a:p>
          <a:p>
            <a:r>
              <a:t>- /Users/xieyucheng/Documents/python_projects/chat_app/workers/think_process_worker.py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/Users/xieyucheng/Documents/python_projects/chat_app/agent/agent_graph.py</a:t>
            </a:r>
          </a:p>
          <a:p>
            <a:r>
              <a:t>- /Users/xieyucheng/Documents/python_projects/chat_app/utils/java_service.py</a:t>
            </a:r>
          </a:p>
          <a:p>
            <a:r>
              <a:t>- /Users/xieyucheng/Documents/python_projects/chat_app/utils/think_process_mq.py</a:t>
            </a:r>
          </a:p>
          <a:p>
            <a:r>
              <a:t>- /Users/xieyucheng/Documents/python_projects/chat_app/workers/think_process_worker.py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lesson allocation authored for this teaching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400050" y="2667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AI Agent</a:t>
            </a:r>
            <a:endParaRPr sz="1050" b="1">
              <a:solidFill>
                <a:srgbClr val="5B5F66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00050" y="1200150"/>
            <a:ext cx="723900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050" b="1">
                <a:solidFill>
                  <a:srgbClr val="111111"/>
                </a:solidFill>
              </a:defRPr>
            </a:pPr>
            <a:r>
              <a:rPr lang="en-US" sz="4050" b="1">
                <a:solidFill>
                  <a:srgbClr val="111111"/>
                </a:solidFill>
              </a:rPr>
              <a:t>AI Agent</a:t>
            </a:r>
            <a:r>
              <a:rPr lang="zh-CN" altLang="en-US" sz="4050" b="1">
                <a:solidFill>
                  <a:srgbClr val="111111"/>
                </a:solidFill>
              </a:rPr>
              <a:t>学习</a:t>
            </a:r>
            <a:r>
              <a:rPr lang="zh-CN" altLang="en-US" sz="4050" b="1">
                <a:solidFill>
                  <a:srgbClr val="111111"/>
                </a:solidFill>
              </a:rPr>
              <a:t>路径</a:t>
            </a:r>
            <a:endParaRPr lang="zh-CN" altLang="en-US" sz="4050" b="1">
              <a:solidFill>
                <a:srgbClr val="11111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2857500"/>
            <a:ext cx="5905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0">
                <a:solidFill>
                  <a:srgbClr val="5B5F66"/>
                </a:solidFill>
              </a:defRPr>
            </a:pPr>
            <a:r>
              <a:rPr sz="1800" b="0">
                <a:solidFill>
                  <a:srgbClr val="5B5F66"/>
                </a:solidFill>
              </a:rPr>
              <a:t>这是你从第一期到第四期的学习路径，当前先从大模型调用与本地化部署开始。</a:t>
            </a:r>
            <a:endParaRPr sz="1800" b="0">
              <a:solidFill>
                <a:srgbClr val="5B5F66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020050" y="685800"/>
            <a:ext cx="3429000" cy="4953000"/>
          </a:xfrm>
          <a:prstGeom prst="roundRect">
            <a:avLst>
              <a:gd name="adj" fmla="val 5000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62950" y="1257300"/>
            <a:ext cx="2738755" cy="42233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适合你，如果你</a:t>
            </a:r>
            <a:endParaRPr sz="1800" b="0">
              <a:solidFill>
                <a:srgbClr val="111111"/>
              </a:solidFill>
            </a:endParaRPr>
          </a:p>
          <a:p>
            <a:endParaRPr sz="1800"/>
          </a:p>
          <a:p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1. 刚开始接触大模型开发</a:t>
            </a:r>
            <a:endParaRPr sz="1800" b="0">
              <a:solidFill>
                <a:srgbClr val="111111"/>
              </a:solidFill>
            </a:endParaRPr>
          </a:p>
          <a:p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2. 想先跑通 API 和本地部署</a:t>
            </a:r>
            <a:endParaRPr sz="1800" b="0">
              <a:solidFill>
                <a:srgbClr val="111111"/>
              </a:solidFill>
            </a:endParaRPr>
          </a:p>
          <a:p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3. 想知道后面几期怎么学</a:t>
            </a:r>
            <a:endParaRPr sz="1800" b="0">
              <a:solidFill>
                <a:srgbClr val="111111"/>
              </a:solidFill>
            </a:endParaRPr>
          </a:p>
          <a:p>
            <a:endParaRPr sz="1800"/>
          </a:p>
          <a:p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四期路线</a:t>
            </a:r>
            <a:endParaRPr sz="1800" b="0">
              <a:solidFill>
                <a:srgbClr val="111111"/>
              </a:solidFill>
            </a:endParaRPr>
          </a:p>
          <a:p>
            <a:endParaRPr sz="1800"/>
          </a:p>
          <a:p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- 第一期：调用与部署</a:t>
            </a:r>
            <a:endParaRPr sz="1800" b="0">
              <a:solidFill>
                <a:srgbClr val="111111"/>
              </a:solidFill>
            </a:endParaRPr>
          </a:p>
          <a:p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- 第二期：RAG</a:t>
            </a:r>
            <a:endParaRPr sz="1800" b="0">
              <a:solidFill>
                <a:srgbClr val="111111"/>
              </a:solidFill>
            </a:endParaRPr>
          </a:p>
          <a:p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- 第三期：Agent</a:t>
            </a:r>
            <a:endParaRPr sz="1800" b="0">
              <a:solidFill>
                <a:srgbClr val="111111"/>
              </a:solidFill>
            </a:endParaRPr>
          </a:p>
          <a:p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- 第四期：项目整合</a:t>
            </a:r>
            <a:endParaRPr sz="1800" b="0">
              <a:solidFill>
                <a:srgbClr val="111111"/>
              </a:solidFill>
            </a:endParaRPr>
          </a:p>
        </p:txBody>
      </p:sp>
      <p:sp>
        <p:nvSpPr>
          <p:cNvPr id="6" name="page-1"/>
          <p:cNvSpPr>
            <a:spLocks noGrp="1"/>
          </p:cNvSpPr>
          <p:nvPr/>
        </p:nvSpPr>
        <p:spPr>
          <a:xfrm>
            <a:off x="11239500" y="62484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1</a:t>
            </a:r>
            <a:endParaRPr sz="975">
              <a:solidFill>
                <a:srgbClr val="5B5F6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400050" y="2476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PHASE OUTCOMES</a:t>
            </a:r>
            <a:endParaRPr sz="1050" b="1">
              <a:solidFill>
                <a:srgbClr val="5B5F66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00050" y="514350"/>
            <a:ext cx="11334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第一期先把调用与部署跑通，后面的几期才接得稳</a:t>
            </a:r>
            <a:endParaRPr sz="2850" b="1">
              <a:solidFill>
                <a:srgbClr val="111111"/>
              </a:solidFill>
            </a:endParaRPr>
          </a:p>
        </p:txBody>
      </p:sp>
      <p:sp>
        <p:nvSpPr>
          <p:cNvPr id="3" name="先补基础-card"/>
          <p:cNvSpPr>
            <a:spLocks noGrp="1"/>
          </p:cNvSpPr>
          <p:nvPr/>
        </p:nvSpPr>
        <p:spPr>
          <a:xfrm>
            <a:off x="400050" y="2095500"/>
            <a:ext cx="3562350" cy="2971800"/>
          </a:xfrm>
          <a:prstGeom prst="roundRect">
            <a:avLst>
              <a:gd name="adj" fmla="val 5769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362200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01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2385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会发出稳定请求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3676650"/>
            <a:ext cx="31432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知道 prompt、messages、responses 和 OpenAI-compatible 接口怎么配合，能把一个最小请求稳定跑通。</a:t>
            </a:r>
            <a:endParaRPr sz="1275" b="0">
              <a:solidFill>
                <a:srgbClr val="5B5F66"/>
              </a:solidFill>
            </a:endParaRPr>
          </a:p>
        </p:txBody>
      </p:sp>
      <p:sp>
        <p:nvSpPr>
          <p:cNvPr id="7" name="再懂架构-card"/>
          <p:cNvSpPr>
            <a:spLocks noGrp="1"/>
          </p:cNvSpPr>
          <p:nvPr/>
        </p:nvSpPr>
        <p:spPr>
          <a:xfrm>
            <a:off x="4314825" y="2095500"/>
            <a:ext cx="3562350" cy="2971800"/>
          </a:xfrm>
          <a:prstGeom prst="roundRect">
            <a:avLst>
              <a:gd name="adj" fmla="val 5769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524375" y="2362200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02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524375" y="32385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会准备本地环境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524375" y="3676650"/>
            <a:ext cx="31432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能准备 Python 环境、安装依赖、检查 GPU / CUDA，并知道本地部署前最先排查哪些问题。</a:t>
            </a:r>
            <a:endParaRPr sz="1275" b="0">
              <a:solidFill>
                <a:srgbClr val="5B5F66"/>
              </a:solidFill>
            </a:endParaRPr>
          </a:p>
        </p:txBody>
      </p:sp>
      <p:sp>
        <p:nvSpPr>
          <p:cNvPr id="11" name="最后能落地-card"/>
          <p:cNvSpPr>
            <a:spLocks noGrp="1"/>
          </p:cNvSpPr>
          <p:nvPr/>
        </p:nvSpPr>
        <p:spPr>
          <a:xfrm>
            <a:off x="8229600" y="2095500"/>
            <a:ext cx="3562350" cy="2971800"/>
          </a:xfrm>
          <a:prstGeom prst="roundRect">
            <a:avLst>
              <a:gd name="adj" fmla="val 5769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2362200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03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439150" y="32385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知道后面怎么接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3676650"/>
            <a:ext cx="31432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5B5F66"/>
                </a:solidFill>
              </a:defRPr>
            </a:pPr>
            <a:r>
              <a:rPr sz="1275" b="0">
                <a:solidFill>
                  <a:srgbClr val="5B5F66"/>
                </a:solidFill>
              </a:rPr>
              <a:t>清楚第二期会进入 RAG，第三期会进入 Agent，第四期会进入 AI Agent 整合实战，学习不会断层。</a:t>
            </a:r>
            <a:endParaRPr sz="1275" b="0">
              <a:solidFill>
                <a:srgbClr val="5B5F66"/>
              </a:solidFill>
            </a:endParaRPr>
          </a:p>
        </p:txBody>
      </p:sp>
      <p:sp>
        <p:nvSpPr>
          <p:cNvPr id="15" name="page-2"/>
          <p:cNvSpPr>
            <a:spLocks noGrp="1"/>
          </p:cNvSpPr>
          <p:nvPr/>
        </p:nvSpPr>
        <p:spPr>
          <a:xfrm>
            <a:off x="11239500" y="62484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2</a:t>
            </a:r>
            <a:endParaRPr sz="975">
              <a:solidFill>
                <a:srgbClr val="5B5F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400050" y="2476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PHASE MAP</a:t>
            </a:r>
            <a:endParaRPr sz="1050" b="1">
              <a:solidFill>
                <a:srgbClr val="5B5F66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00050" y="514350"/>
            <a:ext cx="11334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先把完整学习路线拉齐，再进入第一期的每个 demo</a:t>
            </a:r>
            <a:endParaRPr sz="2850" b="1">
              <a:solidFill>
                <a:srgbClr val="11111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1066800"/>
            <a:ext cx="1133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5B5F66"/>
                </a:solidFill>
              </a:defRPr>
            </a:pPr>
            <a:r>
              <a:rPr sz="1575">
                <a:solidFill>
                  <a:srgbClr val="5B5F66"/>
                </a:solidFill>
              </a:rPr>
              <a:t>你先知道四期分别解决什么问题，后面的命令和代码才不会学散。</a:t>
            </a:r>
            <a:endParaRPr sz="1575">
              <a:solidFill>
                <a:srgbClr val="5B5F66"/>
              </a:solidFill>
            </a:endParaRPr>
          </a:p>
        </p:txBody>
      </p:sp>
      <p:graphicFrame>
        <p:nvGraphicFramePr>
          <p:cNvPr id="11" name="表格 10"/>
          <p:cNvGraphicFramePr/>
          <p:nvPr/>
        </p:nvGraphicFramePr>
        <p:xfrm>
          <a:off x="400050" y="1962150"/>
          <a:ext cx="11391900" cy="3695700"/>
        </p:xfrm>
        <a:graphic>
          <a:graphicData uri="http://schemas.openxmlformats.org/drawingml/2006/table">
            <a:tbl>
              <a:tblPr firstRow="1" bandRow="1"/>
              <a:tblGrid>
                <a:gridCol w="1143000"/>
                <a:gridCol w="5334000"/>
                <a:gridCol w="4914900"/>
              </a:tblGrid>
              <a:tr h="5279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期数</a:t>
                      </a:r>
                      <a:endParaRPr sz="13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核心主题</a:t>
                      </a:r>
                      <a:endParaRPr sz="13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你会完成什么</a:t>
                      </a:r>
                      <a:endParaRPr sz="13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52795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第一期</a:t>
                      </a:r>
                      <a:endParaRPr sz="1275">
                        <a:solidFill>
                          <a:srgbClr val="11111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大模型调用与本地化部署</a:t>
                      </a:r>
                      <a:endParaRPr sz="1275">
                        <a:solidFill>
                          <a:srgbClr val="11111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跑通云 API、本地 compatible 服务与直连 demo</a:t>
                      </a:r>
                      <a:endParaRPr sz="1275">
                        <a:solidFill>
                          <a:srgbClr val="111111"/>
                        </a:solidFill>
                      </a:endParaRPr>
                    </a:p>
                  </a:txBody>
                  <a:tcPr/>
                </a:tc>
              </a:tr>
              <a:tr h="52795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第二期</a:t>
                      </a:r>
                      <a:endParaRPr sz="1275">
                        <a:solidFill>
                          <a:srgbClr val="11111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RAG 与知识库</a:t>
                      </a:r>
                      <a:endParaRPr sz="1275">
                        <a:solidFill>
                          <a:srgbClr val="11111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完成切块、向量化、检索与回答增强</a:t>
                      </a:r>
                      <a:endParaRPr sz="1275">
                        <a:solidFill>
                          <a:srgbClr val="111111"/>
                        </a:solidFill>
                      </a:endParaRPr>
                    </a:p>
                  </a:txBody>
                  <a:tcPr/>
                </a:tc>
              </a:tr>
              <a:tr h="52795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第三期</a:t>
                      </a:r>
                      <a:endParaRPr sz="1275">
                        <a:solidFill>
                          <a:srgbClr val="11111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Agent 与工作流</a:t>
                      </a:r>
                      <a:endParaRPr sz="1275">
                        <a:solidFill>
                          <a:srgbClr val="11111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学会工具调用、节点编排和状态流转</a:t>
                      </a:r>
                      <a:endParaRPr sz="1275">
                        <a:solidFill>
                          <a:srgbClr val="111111"/>
                        </a:solidFill>
                      </a:endParaRPr>
                    </a:p>
                  </a:txBody>
                  <a:tcPr/>
                </a:tc>
              </a:tr>
              <a:tr h="52795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第四期</a:t>
                      </a:r>
                      <a:endParaRPr sz="1275">
                        <a:solidFill>
                          <a:srgbClr val="11111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AI Agent 项目整合实战</a:t>
                      </a:r>
                      <a:endParaRPr sz="1275">
                        <a:solidFill>
                          <a:srgbClr val="11111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把调用、RAG、Agent 接进完整项目链路</a:t>
                      </a:r>
                      <a:endParaRPr sz="1275">
                        <a:solidFill>
                          <a:srgbClr val="11111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page-3"/>
          <p:cNvSpPr>
            <a:spLocks noGrp="1"/>
          </p:cNvSpPr>
          <p:nvPr/>
        </p:nvSpPr>
        <p:spPr>
          <a:xfrm>
            <a:off x="11239500" y="62484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3</a:t>
            </a:r>
            <a:endParaRPr sz="975">
              <a:solidFill>
                <a:srgbClr val="5B5F6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400050" y="2476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API BASICS</a:t>
            </a:r>
            <a:endParaRPr sz="1050" b="1">
              <a:solidFill>
                <a:srgbClr val="5B5F66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00050" y="514350"/>
            <a:ext cx="11334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先把 API 调用学到“能独立发请求”这一层</a:t>
            </a:r>
            <a:endParaRPr sz="2850" b="1">
              <a:solidFill>
                <a:srgbClr val="111111"/>
              </a:solidFill>
            </a:endParaRPr>
          </a:p>
        </p:txBody>
      </p:sp>
      <p:sp>
        <p:nvSpPr>
          <p:cNvPr id="3" name="语言与工程基础-card"/>
          <p:cNvSpPr>
            <a:spLocks noGrp="1"/>
          </p:cNvSpPr>
          <p:nvPr/>
        </p:nvSpPr>
        <p:spPr>
          <a:xfrm>
            <a:off x="400050" y="1809750"/>
            <a:ext cx="5334000" cy="3905250"/>
          </a:xfrm>
          <a:prstGeom prst="roundRect">
            <a:avLst>
              <a:gd name="adj" fmla="val 4390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000250"/>
            <a:ext cx="491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第一期先练这几类能力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2438400"/>
            <a:ext cx="4914900" cy="308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1. 看懂 `input` 和 `messages` 两种输入方式</a:t>
            </a:r>
            <a:endParaRPr sz="1350" b="0">
              <a:solidFill>
                <a:srgbClr val="5B5F66"/>
              </a:solidFill>
            </a:endParaRPr>
          </a:p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2. 区分 Responses API 与 Chat Completions API</a:t>
            </a:r>
            <a:endParaRPr sz="1350" b="0">
              <a:solidFill>
                <a:srgbClr val="5B5F66"/>
              </a:solidFill>
            </a:endParaRPr>
          </a:p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3. 理解第三方兼容平台为什么也能用 OpenAI SDK</a:t>
            </a:r>
            <a:endParaRPr sz="1350" b="0">
              <a:solidFill>
                <a:srgbClr val="5B5F66"/>
              </a:solidFill>
            </a:endParaRPr>
          </a:p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4. 学会读取返回文本、错误信息和模型名</a:t>
            </a:r>
            <a:endParaRPr sz="1350" b="0">
              <a:solidFill>
                <a:srgbClr val="5B5F66"/>
              </a:solidFill>
            </a:endParaRPr>
          </a:p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5. 先用最小 prompt 验证链路，再增加上下文</a:t>
            </a:r>
            <a:endParaRPr sz="1350" b="0">
              <a:solidFill>
                <a:srgbClr val="5B5F66"/>
              </a:solidFill>
            </a:endParaRPr>
          </a:p>
        </p:txBody>
      </p:sp>
      <p:sp>
        <p:nvSpPr>
          <p:cNvPr id="6" name="在这个项目里，Java 更像业务主系统-card"/>
          <p:cNvSpPr>
            <a:spLocks noGrp="1"/>
          </p:cNvSpPr>
          <p:nvPr/>
        </p:nvSpPr>
        <p:spPr>
          <a:xfrm>
            <a:off x="6057900" y="1809750"/>
            <a:ext cx="5734050" cy="3905250"/>
          </a:xfrm>
          <a:prstGeom prst="roundRect">
            <a:avLst>
              <a:gd name="adj" fmla="val 4390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267450" y="2000250"/>
            <a:ext cx="5314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学完后你应该能做到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267450" y="2438400"/>
            <a:ext cx="5314950" cy="308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1. 能自己配置 `api_key`、`base_url` 和 `model`</a:t>
            </a:r>
            <a:endParaRPr sz="1350" b="0">
              <a:solidFill>
                <a:srgbClr val="5B5F66"/>
              </a:solidFill>
            </a:endParaRPr>
          </a:p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2. 能跑通 OpenAI、DeepSeek 或兼容接口</a:t>
            </a:r>
            <a:endParaRPr sz="1350" b="0">
              <a:solidFill>
                <a:srgbClr val="5B5F66"/>
              </a:solidFill>
            </a:endParaRPr>
          </a:p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3. 能解释多轮对话为什么要继续传历史消息</a:t>
            </a:r>
            <a:endParaRPr sz="1350" b="0">
              <a:solidFill>
                <a:srgbClr val="5B5F66"/>
              </a:solidFill>
            </a:endParaRPr>
          </a:p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4. 能把“调用成功”与“回答质量”分开判断</a:t>
            </a:r>
            <a:endParaRPr sz="1350" b="0">
              <a:solidFill>
                <a:srgbClr val="5B5F66"/>
              </a:solidFill>
            </a:endParaRPr>
          </a:p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5. 知道后面本地部署其实是在替换接口背后的服务层</a:t>
            </a:r>
            <a:endParaRPr sz="1350" b="0">
              <a:solidFill>
                <a:srgbClr val="5B5F66"/>
              </a:solidFill>
            </a:endParaRPr>
          </a:p>
        </p:txBody>
      </p:sp>
      <p:sp>
        <p:nvSpPr>
          <p:cNvPr id="9" name="page-5"/>
          <p:cNvSpPr>
            <a:spLocks noGrp="1"/>
          </p:cNvSpPr>
          <p:nvPr/>
        </p:nvSpPr>
        <p:spPr>
          <a:xfrm>
            <a:off x="11239500" y="62484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5</a:t>
            </a:r>
            <a:endParaRPr sz="975">
              <a:solidFill>
                <a:srgbClr val="5B5F6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400050" y="2476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ENVIRONMENT BASICS</a:t>
            </a:r>
            <a:endParaRPr sz="1050" b="1">
              <a:solidFill>
                <a:srgbClr val="5B5F66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00050" y="514350"/>
            <a:ext cx="11334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再把运行环境学到“能自己定位问题”这一层</a:t>
            </a:r>
            <a:endParaRPr sz="2850" b="1">
              <a:solidFill>
                <a:srgbClr val="111111"/>
              </a:solidFill>
            </a:endParaRPr>
          </a:p>
        </p:txBody>
      </p:sp>
      <p:sp>
        <p:nvSpPr>
          <p:cNvPr id="3" name="语言与工程基础-card"/>
          <p:cNvSpPr>
            <a:spLocks noGrp="1"/>
          </p:cNvSpPr>
          <p:nvPr/>
        </p:nvSpPr>
        <p:spPr>
          <a:xfrm>
            <a:off x="400050" y="1809750"/>
            <a:ext cx="5334000" cy="3905250"/>
          </a:xfrm>
          <a:prstGeom prst="roundRect">
            <a:avLst>
              <a:gd name="adj" fmla="val 4390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000250"/>
            <a:ext cx="491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先确认哪些基础条件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2438400"/>
            <a:ext cx="4914900" cy="308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1. Python 版本、虚拟环境、依赖安装</a:t>
            </a:r>
            <a:endParaRPr sz="1350" b="0">
              <a:solidFill>
                <a:srgbClr val="5B5F66"/>
              </a:solidFill>
            </a:endParaRPr>
          </a:p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2. `pip` / `conda` 的基本使用方式</a:t>
            </a:r>
            <a:endParaRPr sz="1350" b="0">
              <a:solidFill>
                <a:srgbClr val="5B5F66"/>
              </a:solidFill>
            </a:endParaRPr>
          </a:p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3. 本地是否有 NVIDIA GPU 与可用 CUDA</a:t>
            </a:r>
            <a:endParaRPr sz="1350" b="0">
              <a:solidFill>
                <a:srgbClr val="5B5F66"/>
              </a:solidFill>
            </a:endParaRPr>
          </a:p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4. 模型依赖和运行环境要按项目隔离</a:t>
            </a:r>
            <a:endParaRPr sz="1350" b="0">
              <a:solidFill>
                <a:srgbClr val="5B5F66"/>
              </a:solidFill>
            </a:endParaRPr>
          </a:p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5. 先做版本检查，再做大模型安装</a:t>
            </a:r>
            <a:endParaRPr sz="1350" b="0">
              <a:solidFill>
                <a:srgbClr val="5B5F66"/>
              </a:solidFill>
            </a:endParaRPr>
          </a:p>
        </p:txBody>
      </p:sp>
      <p:sp>
        <p:nvSpPr>
          <p:cNvPr id="6" name="在这个项目里，Python 更像 AI 能力服务-card"/>
          <p:cNvSpPr>
            <a:spLocks noGrp="1"/>
          </p:cNvSpPr>
          <p:nvPr/>
        </p:nvSpPr>
        <p:spPr>
          <a:xfrm>
            <a:off x="6057900" y="1809750"/>
            <a:ext cx="5734050" cy="3905250"/>
          </a:xfrm>
          <a:prstGeom prst="roundRect">
            <a:avLst>
              <a:gd name="adj" fmla="val 4390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267450" y="2000250"/>
            <a:ext cx="5314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遇到问题先按这个顺序查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267450" y="2438400"/>
            <a:ext cx="5314950" cy="308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1. 先查解释器和虚拟环境是否对</a:t>
            </a:r>
            <a:endParaRPr sz="1350" b="0">
              <a:solidFill>
                <a:srgbClr val="5B5F66"/>
              </a:solidFill>
            </a:endParaRPr>
          </a:p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2. 再查依赖版本和导入错误</a:t>
            </a:r>
            <a:endParaRPr sz="1350" b="0">
              <a:solidFill>
                <a:srgbClr val="5B5F66"/>
              </a:solidFill>
            </a:endParaRPr>
          </a:p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3. 再查显卡、显存、CUDA 是否匹配</a:t>
            </a:r>
            <a:endParaRPr sz="1350" b="0">
              <a:solidFill>
                <a:srgbClr val="5B5F66"/>
              </a:solidFill>
            </a:endParaRPr>
          </a:p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4. 再看服务启动日志和端口是否正常</a:t>
            </a:r>
            <a:endParaRPr sz="1350" b="0">
              <a:solidFill>
                <a:srgbClr val="5B5F66"/>
              </a:solidFill>
            </a:endParaRPr>
          </a:p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5. 养成记录命令、报错、解决方式的习惯</a:t>
            </a:r>
            <a:endParaRPr sz="1350" b="0">
              <a:solidFill>
                <a:srgbClr val="5B5F66"/>
              </a:solidFill>
            </a:endParaRPr>
          </a:p>
        </p:txBody>
      </p:sp>
      <p:sp>
        <p:nvSpPr>
          <p:cNvPr id="9" name="page-6"/>
          <p:cNvSpPr>
            <a:spLocks noGrp="1"/>
          </p:cNvSpPr>
          <p:nvPr/>
        </p:nvSpPr>
        <p:spPr>
          <a:xfrm>
            <a:off x="11239500" y="62484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6</a:t>
            </a:r>
            <a:endParaRPr sz="975">
              <a:solidFill>
                <a:srgbClr val="5B5F6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400050" y="2476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LEARNING DECISION</a:t>
            </a:r>
            <a:endParaRPr sz="1050" b="1">
              <a:solidFill>
                <a:srgbClr val="5B5F66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00050" y="514350"/>
            <a:ext cx="11334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第一期要同时看云 API 和本地部署，才能建立完整认知</a:t>
            </a:r>
            <a:endParaRPr sz="2850" b="1">
              <a:solidFill>
                <a:srgbClr val="111111"/>
              </a:solidFill>
            </a:endParaRPr>
          </a:p>
        </p:txBody>
      </p:sp>
      <p:sp>
        <p:nvSpPr>
          <p:cNvPr id="3" name="Java 更适合承接业务系统职责-card"/>
          <p:cNvSpPr>
            <a:spLocks noGrp="1"/>
          </p:cNvSpPr>
          <p:nvPr/>
        </p:nvSpPr>
        <p:spPr>
          <a:xfrm>
            <a:off x="400050" y="1809750"/>
            <a:ext cx="5334000" cy="3714750"/>
          </a:xfrm>
          <a:prstGeom prst="roundRect">
            <a:avLst>
              <a:gd name="adj" fmla="val 4615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000250"/>
            <a:ext cx="491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先学云 API 的理由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2438400"/>
            <a:ext cx="4914900" cy="2895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1. 反馈快，适合先验证 prompt、messages 和多轮逻辑</a:t>
            </a:r>
            <a:endParaRPr sz="1350" b="0">
              <a:solidFill>
                <a:srgbClr val="5B5F66"/>
              </a:solidFill>
            </a:endParaRPr>
          </a:p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2. 不会一开始就被环境、显存、驱动问题卡住</a:t>
            </a:r>
            <a:endParaRPr sz="1350" b="0">
              <a:solidFill>
                <a:srgbClr val="5B5F66"/>
              </a:solidFill>
            </a:endParaRPr>
          </a:p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3. 更容易把“接口调用”这层先看清楚</a:t>
            </a:r>
            <a:endParaRPr sz="1350" b="0">
              <a:solidFill>
                <a:srgbClr val="5B5F66"/>
              </a:solidFill>
            </a:endParaRPr>
          </a:p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4. 适合先完成最小可运行 demo</a:t>
            </a:r>
            <a:endParaRPr sz="1350" b="0">
              <a:solidFill>
                <a:srgbClr val="5B5F66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关键词：快反馈、低门槛、先建立信心。</a:t>
            </a:r>
            <a:endParaRPr sz="1350" b="0">
              <a:solidFill>
                <a:srgbClr val="5B5F66"/>
              </a:solidFill>
            </a:endParaRPr>
          </a:p>
        </p:txBody>
      </p:sp>
      <p:sp>
        <p:nvSpPr>
          <p:cNvPr id="6" name="Python 更适合承接 AI 能力职责-card"/>
          <p:cNvSpPr>
            <a:spLocks noGrp="1"/>
          </p:cNvSpPr>
          <p:nvPr/>
        </p:nvSpPr>
        <p:spPr>
          <a:xfrm>
            <a:off x="6057900" y="1809750"/>
            <a:ext cx="5734050" cy="3714750"/>
          </a:xfrm>
          <a:prstGeom prst="roundRect">
            <a:avLst>
              <a:gd name="adj" fmla="val 4615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267450" y="2000250"/>
            <a:ext cx="5314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再学本地部署的理由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267450" y="2438400"/>
            <a:ext cx="5314950" cy="2895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1. 能真正理解模型权重、推理服务和接口的关系</a:t>
            </a:r>
            <a:endParaRPr sz="1350" b="0">
              <a:solidFill>
                <a:srgbClr val="5B5F66"/>
              </a:solidFill>
            </a:endParaRPr>
          </a:p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2. 更贴近企业私有化、成本控制与数据边界需求</a:t>
            </a:r>
            <a:endParaRPr sz="1350" b="0">
              <a:solidFill>
                <a:srgbClr val="5B5F66"/>
              </a:solidFill>
            </a:endParaRPr>
          </a:p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3. 会逼着你处理环境、模型和资源配置问题</a:t>
            </a:r>
            <a:endParaRPr sz="1350" b="0">
              <a:solidFill>
                <a:srgbClr val="5B5F66"/>
              </a:solidFill>
            </a:endParaRPr>
          </a:p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4. 适合在第一期后半段拉开难度</a:t>
            </a:r>
            <a:endParaRPr sz="1350" b="0">
              <a:solidFill>
                <a:srgbClr val="5B5F66"/>
              </a:solidFill>
            </a:endParaRPr>
          </a:p>
          <a:p>
            <a:endParaRPr sz="1350"/>
          </a:p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关键词：深理解、可控性、工程感。</a:t>
            </a:r>
            <a:endParaRPr sz="1350" b="0">
              <a:solidFill>
                <a:srgbClr val="5B5F66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00050" y="5753100"/>
            <a:ext cx="1133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学习要点：第一期不是二选一，而是先用云端建立正反馈，再用本地部署补齐全链路认知。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0" name="page-8"/>
          <p:cNvSpPr>
            <a:spLocks noGrp="1"/>
          </p:cNvSpPr>
          <p:nvPr/>
        </p:nvSpPr>
        <p:spPr>
          <a:xfrm>
            <a:off x="11239500" y="62484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8</a:t>
            </a:r>
            <a:endParaRPr sz="975">
              <a:solidFill>
                <a:srgbClr val="5B5F6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400050" y="2476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API PRACTICE</a:t>
            </a:r>
            <a:endParaRPr sz="1050" b="1">
              <a:solidFill>
                <a:srgbClr val="5B5F66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00050" y="514350"/>
            <a:ext cx="11334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第一期大纲：大模型调用与本地化部署</a:t>
            </a:r>
            <a:endParaRPr sz="2850" b="1">
              <a:solidFill>
                <a:srgbClr val="111111"/>
              </a:solidFill>
            </a:endParaRPr>
          </a:p>
        </p:txBody>
      </p:sp>
      <p:sp>
        <p:nvSpPr>
          <p:cNvPr id="3" name="模块一：鉴权与用户上下文-card"/>
          <p:cNvSpPr>
            <a:spLocks noGrp="1"/>
          </p:cNvSpPr>
          <p:nvPr/>
        </p:nvSpPr>
        <p:spPr>
          <a:xfrm>
            <a:off x="400050" y="1790700"/>
            <a:ext cx="5410200" cy="1676400"/>
          </a:xfrm>
          <a:prstGeom prst="roundRect">
            <a:avLst>
              <a:gd name="adj" fmla="val 10227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981200"/>
            <a:ext cx="499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模块一：OpenAI 基础请求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2419350"/>
            <a:ext cx="4991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先跑通 Responses API 和 Chat Completions，确认 `api_key`、`model` 和返回结果读取方式。</a:t>
            </a:r>
            <a:endParaRPr sz="1350" b="0">
              <a:solidFill>
                <a:srgbClr val="5B5F66"/>
              </a:solidFill>
            </a:endParaRPr>
          </a:p>
        </p:txBody>
      </p:sp>
      <p:sp>
        <p:nvSpPr>
          <p:cNvPr id="6" name="模块二：会话、问题、思考过程模型-card"/>
          <p:cNvSpPr>
            <a:spLocks noGrp="1"/>
          </p:cNvSpPr>
          <p:nvPr/>
        </p:nvSpPr>
        <p:spPr>
          <a:xfrm>
            <a:off x="5981700" y="1790700"/>
            <a:ext cx="5810250" cy="1676400"/>
          </a:xfrm>
          <a:prstGeom prst="roundRect">
            <a:avLst>
              <a:gd name="adj" fmla="val 10227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0" y="1981200"/>
            <a:ext cx="5391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模块二：多轮消息与上下文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191250" y="2419350"/>
            <a:ext cx="53911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用 messages 列表继续传历史对话，理解“第二问为什么能接上上一轮”。</a:t>
            </a:r>
            <a:endParaRPr sz="1350" b="0">
              <a:solidFill>
                <a:srgbClr val="5B5F66"/>
              </a:solidFill>
            </a:endParaRPr>
          </a:p>
        </p:txBody>
      </p:sp>
      <p:sp>
        <p:nvSpPr>
          <p:cNvPr id="9" name="模块三：文件状态与 Prompt 配置-card"/>
          <p:cNvSpPr>
            <a:spLocks noGrp="1"/>
          </p:cNvSpPr>
          <p:nvPr/>
        </p:nvSpPr>
        <p:spPr>
          <a:xfrm>
            <a:off x="400050" y="3733800"/>
            <a:ext cx="5410200" cy="1676400"/>
          </a:xfrm>
          <a:prstGeom prst="roundRect">
            <a:avLst>
              <a:gd name="adj" fmla="val 10227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3924300"/>
            <a:ext cx="499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模块三：兼容平台迁移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4362450"/>
            <a:ext cx="4991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把同一段调用切到 DeepSeek 或其他兼容平台，练习 `base_url` 与 `model` 切换。</a:t>
            </a:r>
            <a:endParaRPr sz="1350" b="0">
              <a:solidFill>
                <a:srgbClr val="5B5F66"/>
              </a:solidFill>
            </a:endParaRPr>
          </a:p>
        </p:txBody>
      </p:sp>
      <p:sp>
        <p:nvSpPr>
          <p:cNvPr id="12" name="模块四：接口规范与幂等设计-card"/>
          <p:cNvSpPr>
            <a:spLocks noGrp="1"/>
          </p:cNvSpPr>
          <p:nvPr/>
        </p:nvSpPr>
        <p:spPr>
          <a:xfrm>
            <a:off x="5981700" y="3733800"/>
            <a:ext cx="5810250" cy="1676400"/>
          </a:xfrm>
          <a:prstGeom prst="roundRect">
            <a:avLst>
              <a:gd name="adj" fmla="val 10227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191250" y="3924300"/>
            <a:ext cx="5391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模块四：应用层记忆 demo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191250" y="4362450"/>
            <a:ext cx="53911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按 session 保存历史消息，体验“本地记忆层”与模型本身的区别。</a:t>
            </a:r>
            <a:endParaRPr sz="1350" b="0">
              <a:solidFill>
                <a:srgbClr val="5B5F66"/>
              </a:solidFill>
            </a:endParaRPr>
          </a:p>
        </p:txBody>
      </p:sp>
      <p:sp>
        <p:nvSpPr>
          <p:cNvPr id="15" name="page-9"/>
          <p:cNvSpPr>
            <a:spLocks noGrp="1"/>
          </p:cNvSpPr>
          <p:nvPr/>
        </p:nvSpPr>
        <p:spPr>
          <a:xfrm>
            <a:off x="11239500" y="62484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9</a:t>
            </a:r>
            <a:endParaRPr sz="975">
              <a:solidFill>
                <a:srgbClr val="5B5F6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400050" y="2476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PHASE 2 DETAIL</a:t>
            </a:r>
            <a:endParaRPr sz="1050" b="1">
              <a:solidFill>
                <a:srgbClr val="5B5F66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00050" y="514350"/>
            <a:ext cx="11334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第二期大纲：RAG 与知识库</a:t>
            </a:r>
            <a:endParaRPr sz="2850" b="1">
              <a:solidFill>
                <a:srgbClr val="111111"/>
              </a:solidFill>
            </a:endParaRPr>
          </a:p>
        </p:txBody>
      </p:sp>
      <p:sp>
        <p:nvSpPr>
          <p:cNvPr id="3" name="FastAPI 接口组织-card"/>
          <p:cNvSpPr>
            <a:spLocks noGrp="1"/>
          </p:cNvSpPr>
          <p:nvPr/>
        </p:nvSpPr>
        <p:spPr>
          <a:xfrm>
            <a:off x="400050" y="1809750"/>
            <a:ext cx="3429000" cy="1485900"/>
          </a:xfrm>
          <a:prstGeom prst="roundRect">
            <a:avLst>
              <a:gd name="adj" fmla="val 11538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000250"/>
            <a:ext cx="3009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文档接入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2438400"/>
            <a:ext cx="3009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接入 PDF、Word、网页或业务文档，先把原始数据洗干净。</a:t>
            </a:r>
            <a:endParaRPr sz="1350" b="0">
              <a:solidFill>
                <a:srgbClr val="5B5F66"/>
              </a:solidFill>
            </a:endParaRPr>
          </a:p>
        </p:txBody>
      </p:sp>
      <p:sp>
        <p:nvSpPr>
          <p:cNvPr id="6" name="Agent 工作流-card"/>
          <p:cNvSpPr>
            <a:spLocks noGrp="1"/>
          </p:cNvSpPr>
          <p:nvPr/>
        </p:nvSpPr>
        <p:spPr>
          <a:xfrm>
            <a:off x="4210050" y="1809750"/>
            <a:ext cx="3429000" cy="1485900"/>
          </a:xfrm>
          <a:prstGeom prst="roundRect">
            <a:avLst>
              <a:gd name="adj" fmla="val 11538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4419600" y="2000250"/>
            <a:ext cx="3009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切块设计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419600" y="2438400"/>
            <a:ext cx="3009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根据问答场景调整 chunk 大小、重叠与标题继承方式。</a:t>
            </a:r>
            <a:endParaRPr sz="1350" b="0">
              <a:solidFill>
                <a:srgbClr val="5B5F66"/>
              </a:solidFill>
            </a:endParaRPr>
          </a:p>
        </p:txBody>
      </p:sp>
      <p:sp>
        <p:nvSpPr>
          <p:cNvPr id="9" name="RAG 检索链路-card"/>
          <p:cNvSpPr>
            <a:spLocks noGrp="1"/>
          </p:cNvSpPr>
          <p:nvPr/>
        </p:nvSpPr>
        <p:spPr>
          <a:xfrm>
            <a:off x="8020050" y="1809750"/>
            <a:ext cx="3429000" cy="1485900"/>
          </a:xfrm>
          <a:prstGeom prst="roundRect">
            <a:avLst>
              <a:gd name="adj" fmla="val 11538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229600" y="2000250"/>
            <a:ext cx="3009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向量索引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229600" y="2438400"/>
            <a:ext cx="3009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完成 embedding、入库、索引构建，并能解释向量检索在做什么。</a:t>
            </a:r>
            <a:endParaRPr sz="1350" b="0">
              <a:solidFill>
                <a:srgbClr val="5B5F66"/>
              </a:solidFill>
            </a:endParaRPr>
          </a:p>
        </p:txBody>
      </p:sp>
      <p:sp>
        <p:nvSpPr>
          <p:cNvPr id="12" name="文档处理-card"/>
          <p:cNvSpPr>
            <a:spLocks noGrp="1"/>
          </p:cNvSpPr>
          <p:nvPr/>
        </p:nvSpPr>
        <p:spPr>
          <a:xfrm>
            <a:off x="400050" y="3619500"/>
            <a:ext cx="3429000" cy="1485900"/>
          </a:xfrm>
          <a:prstGeom prst="roundRect">
            <a:avLst>
              <a:gd name="adj" fmla="val 11538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3810000"/>
            <a:ext cx="3009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召回与重排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4248150"/>
            <a:ext cx="3009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从召回、过滤到 rerank，把最有用的内容交回给模型。</a:t>
            </a:r>
            <a:endParaRPr sz="1350" b="0">
              <a:solidFill>
                <a:srgbClr val="5B5F66"/>
              </a:solidFill>
            </a:endParaRPr>
          </a:p>
        </p:txBody>
      </p:sp>
      <p:sp>
        <p:nvSpPr>
          <p:cNvPr id="15" name="异步任务-card"/>
          <p:cNvSpPr>
            <a:spLocks noGrp="1"/>
          </p:cNvSpPr>
          <p:nvPr/>
        </p:nvSpPr>
        <p:spPr>
          <a:xfrm>
            <a:off x="4210050" y="3619500"/>
            <a:ext cx="3429000" cy="1485900"/>
          </a:xfrm>
          <a:prstGeom prst="roundRect">
            <a:avLst>
              <a:gd name="adj" fmla="val 11538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419600" y="3810000"/>
            <a:ext cx="3009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引用回答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419600" y="4248150"/>
            <a:ext cx="3009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让模型基于检索结果回答问题，并尽量给出出处与可追溯片段。</a:t>
            </a:r>
            <a:endParaRPr sz="1350" b="0">
              <a:solidFill>
                <a:srgbClr val="5B5F66"/>
              </a:solidFill>
            </a:endParaRPr>
          </a:p>
        </p:txBody>
      </p:sp>
      <p:sp>
        <p:nvSpPr>
          <p:cNvPr id="18" name="基础设施协同-card"/>
          <p:cNvSpPr>
            <a:spLocks noGrp="1"/>
          </p:cNvSpPr>
          <p:nvPr/>
        </p:nvSpPr>
        <p:spPr>
          <a:xfrm>
            <a:off x="8020050" y="3619500"/>
            <a:ext cx="3429000" cy="1485900"/>
          </a:xfrm>
          <a:prstGeom prst="roundRect">
            <a:avLst>
              <a:gd name="adj" fmla="val 11538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229600" y="3810000"/>
            <a:ext cx="3009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评估优化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229600" y="4248150"/>
            <a:ext cx="3009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针对 bad case 调整切块、召回与 prompt，形成知识库迭代方法。</a:t>
            </a:r>
            <a:endParaRPr sz="1350" b="0">
              <a:solidFill>
                <a:srgbClr val="5B5F66"/>
              </a:solidFill>
            </a:endParaRPr>
          </a:p>
        </p:txBody>
      </p:sp>
      <p:sp>
        <p:nvSpPr>
          <p:cNvPr id="21" name="page-10"/>
          <p:cNvSpPr>
            <a:spLocks noGrp="1"/>
          </p:cNvSpPr>
          <p:nvPr/>
        </p:nvSpPr>
        <p:spPr>
          <a:xfrm>
            <a:off x="11239500" y="62484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13</a:t>
            </a:r>
            <a:endParaRPr sz="975">
              <a:solidFill>
                <a:srgbClr val="5B5F66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400050" y="2476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PHASE 3 DETAIL</a:t>
            </a:r>
            <a:endParaRPr sz="1050" b="1">
              <a:solidFill>
                <a:srgbClr val="5B5F66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00050" y="514350"/>
            <a:ext cx="11334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第三期大纲：Agent 与工作流</a:t>
            </a:r>
            <a:endParaRPr sz="2850" b="1">
              <a:solidFill>
                <a:srgbClr val="11111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1066800"/>
            <a:ext cx="1133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5B5F66"/>
                </a:solidFill>
              </a:defRPr>
            </a:pPr>
            <a:r>
              <a:rPr sz="1575">
                <a:solidFill>
                  <a:srgbClr val="5B5F66"/>
                </a:solidFill>
              </a:rPr>
              <a:t>这一期会从“模型回答”进入“模型执行”，真正开始接触工作流编排。</a:t>
            </a:r>
            <a:endParaRPr sz="1575">
              <a:solidFill>
                <a:srgbClr val="5B5F66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2933700" y="3810000"/>
            <a:ext cx="361950" cy="0"/>
          </a:xfrm>
          <a:prstGeom prst="line">
            <a:avLst/>
          </a:prstGeom>
          <a:noFill/>
          <a:ln w="19050">
            <a:solidFill>
              <a:srgbClr val="B8BCC4"/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5676900" y="3810000"/>
            <a:ext cx="361950" cy="0"/>
          </a:xfrm>
          <a:prstGeom prst="line">
            <a:avLst/>
          </a:prstGeom>
          <a:noFill/>
          <a:ln w="19050">
            <a:solidFill>
              <a:srgbClr val="B8BCC4"/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8420100" y="3810000"/>
            <a:ext cx="361950" cy="0"/>
          </a:xfrm>
          <a:prstGeom prst="line">
            <a:avLst/>
          </a:prstGeom>
          <a:noFill/>
          <a:ln w="19050">
            <a:solidFill>
              <a:srgbClr val="B8BCC4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552450" y="3124200"/>
            <a:ext cx="2381250" cy="1619250"/>
          </a:xfrm>
          <a:prstGeom prst="roundRect">
            <a:avLst>
              <a:gd name="adj" fmla="val 10588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327660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B5F66"/>
                </a:solidFill>
              </a:defRPr>
            </a:pPr>
            <a:r>
              <a:rPr sz="1200" b="1">
                <a:solidFill>
                  <a:srgbClr val="5B5F66"/>
                </a:solidFill>
              </a:rPr>
              <a:t>01</a:t>
            </a:r>
            <a:endParaRPr sz="1200" b="1">
              <a:solidFill>
                <a:srgbClr val="5B5F66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3562350"/>
            <a:ext cx="2038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规划任务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4019550"/>
            <a:ext cx="200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把复杂目标拆成步骤，明确哪些步骤该让模型做，哪些步骤该交给工具做。</a:t>
            </a:r>
            <a:endParaRPr sz="1200" b="0">
              <a:solidFill>
                <a:srgbClr val="5B5F66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295650" y="3124200"/>
            <a:ext cx="2381250" cy="1619250"/>
          </a:xfrm>
          <a:prstGeom prst="roundRect">
            <a:avLst>
              <a:gd name="adj" fmla="val 10588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467100" y="327660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B5F66"/>
                </a:solidFill>
              </a:defRPr>
            </a:pPr>
            <a:r>
              <a:rPr sz="1200" b="1">
                <a:solidFill>
                  <a:srgbClr val="5B5F66"/>
                </a:solidFill>
              </a:rPr>
              <a:t>02</a:t>
            </a:r>
            <a:endParaRPr sz="1200" b="1">
              <a:solidFill>
                <a:srgbClr val="5B5F6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67100" y="3562350"/>
            <a:ext cx="2038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调用工具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67100" y="4019550"/>
            <a:ext cx="200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让 Agent 学会检索、查询、搜索、执行脚本或访问业务接口。</a:t>
            </a:r>
            <a:endParaRPr sz="1200" b="0">
              <a:solidFill>
                <a:srgbClr val="5B5F66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038850" y="3124200"/>
            <a:ext cx="2381250" cy="1619250"/>
          </a:xfrm>
          <a:prstGeom prst="roundRect">
            <a:avLst>
              <a:gd name="adj" fmla="val 10588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210300" y="327660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B5F66"/>
                </a:solidFill>
              </a:defRPr>
            </a:pPr>
            <a:r>
              <a:rPr sz="1200" b="1">
                <a:solidFill>
                  <a:srgbClr val="5B5F66"/>
                </a:solidFill>
              </a:rPr>
              <a:t>03</a:t>
            </a:r>
            <a:endParaRPr sz="1200" b="1">
              <a:solidFill>
                <a:srgbClr val="5B5F66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10300" y="3562350"/>
            <a:ext cx="2038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管理状态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10300" y="4019550"/>
            <a:ext cx="200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处理 memory、上下文变量、中间结果和异常分支，让流程能继续推进。</a:t>
            </a:r>
            <a:endParaRPr sz="1200" b="0">
              <a:solidFill>
                <a:srgbClr val="5B5F66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782050" y="3124200"/>
            <a:ext cx="2381250" cy="1619250"/>
          </a:xfrm>
          <a:prstGeom prst="roundRect">
            <a:avLst>
              <a:gd name="adj" fmla="val 10588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953500" y="327660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B5F66"/>
                </a:solidFill>
              </a:defRPr>
            </a:pPr>
            <a:r>
              <a:rPr sz="1200" b="1">
                <a:solidFill>
                  <a:srgbClr val="5B5F66"/>
                </a:solidFill>
              </a:rPr>
              <a:t>04</a:t>
            </a:r>
            <a:endParaRPr sz="1200" b="1">
              <a:solidFill>
                <a:srgbClr val="5B5F66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53500" y="3562350"/>
            <a:ext cx="2038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复盘优化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953500" y="4019550"/>
            <a:ext cx="200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5B5F66"/>
                </a:solidFill>
              </a:defRPr>
            </a:pPr>
            <a:r>
              <a:rPr sz="1200" b="0">
                <a:solidFill>
                  <a:srgbClr val="5B5F66"/>
                </a:solidFill>
              </a:rPr>
              <a:t>学会看日志、查节点、调 prompt、减失败率，把工作流从能跑调到好用。</a:t>
            </a:r>
            <a:endParaRPr sz="1200" b="0">
              <a:solidFill>
                <a:srgbClr val="5B5F66"/>
              </a:solidFill>
            </a:endParaRPr>
          </a:p>
        </p:txBody>
      </p:sp>
      <p:sp>
        <p:nvSpPr>
          <p:cNvPr id="23" name="page-11"/>
          <p:cNvSpPr>
            <a:spLocks noGrp="1"/>
          </p:cNvSpPr>
          <p:nvPr/>
        </p:nvSpPr>
        <p:spPr>
          <a:xfrm>
            <a:off x="11239500" y="62484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14</a:t>
            </a:r>
            <a:endParaRPr sz="975">
              <a:solidFill>
                <a:srgbClr val="5B5F6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400050" y="2476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B5F66"/>
                </a:solidFill>
              </a:defRPr>
            </a:pPr>
            <a:r>
              <a:rPr sz="1050" b="1">
                <a:solidFill>
                  <a:srgbClr val="5B5F66"/>
                </a:solidFill>
              </a:rPr>
              <a:t>PHASE 4 DETAIL</a:t>
            </a:r>
            <a:endParaRPr sz="1050" b="1">
              <a:solidFill>
                <a:srgbClr val="5B5F66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00050" y="514350"/>
            <a:ext cx="11334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第四期</a:t>
            </a:r>
            <a:r>
              <a:rPr lang="zh-CN" sz="2850" b="1">
                <a:solidFill>
                  <a:srgbClr val="111111"/>
                </a:solidFill>
              </a:rPr>
              <a:t>大纲</a:t>
            </a:r>
            <a:r>
              <a:rPr sz="2850" b="1">
                <a:solidFill>
                  <a:srgbClr val="111111"/>
                </a:solidFill>
              </a:rPr>
              <a:t>：AI Agent 项目整合实战</a:t>
            </a:r>
            <a:endParaRPr sz="2850" b="1">
              <a:solidFill>
                <a:srgbClr val="111111"/>
              </a:solidFill>
            </a:endParaRPr>
          </a:p>
        </p:txBody>
      </p:sp>
      <p:graphicFrame>
        <p:nvGraphicFramePr>
          <p:cNvPr id="18" name="Chart"/>
          <p:cNvGraphicFramePr/>
          <p:nvPr/>
        </p:nvGraphicFramePr>
        <p:xfrm>
          <a:off x="533400" y="1504950"/>
          <a:ext cx="5143500" cy="4476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课堂任务一：接口与数据模型-card"/>
          <p:cNvSpPr>
            <a:spLocks noGrp="1"/>
          </p:cNvSpPr>
          <p:nvPr/>
        </p:nvSpPr>
        <p:spPr>
          <a:xfrm>
            <a:off x="6457950" y="1581150"/>
            <a:ext cx="4953000" cy="1219200"/>
          </a:xfrm>
          <a:prstGeom prst="roundRect">
            <a:avLst>
              <a:gd name="adj" fmla="val 14063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667500" y="1771650"/>
            <a:ext cx="4533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模块一：系统接入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0" y="2209800"/>
            <a:ext cx="4533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先把模型调用、用户入口、接口边界和基础服务接顺，明确请求是从哪里进、到哪里出。</a:t>
            </a:r>
            <a:endParaRPr sz="1350" b="0">
              <a:solidFill>
                <a:srgbClr val="5B5F66"/>
              </a:solidFill>
            </a:endParaRPr>
          </a:p>
        </p:txBody>
      </p:sp>
      <p:sp>
        <p:nvSpPr>
          <p:cNvPr id="7" name="课堂任务二：链路讲解与源码阅读-card"/>
          <p:cNvSpPr>
            <a:spLocks noGrp="1"/>
          </p:cNvSpPr>
          <p:nvPr/>
        </p:nvSpPr>
        <p:spPr>
          <a:xfrm>
            <a:off x="6457950" y="3086100"/>
            <a:ext cx="4953000" cy="1219200"/>
          </a:xfrm>
          <a:prstGeom prst="roundRect">
            <a:avLst>
              <a:gd name="adj" fmla="val 14063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667500" y="3276600"/>
            <a:ext cx="4533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模块二：链路联调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0" y="3714750"/>
            <a:ext cx="4533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把知识检索、Agent 编排、异步回写和日志观察串起来，能定位一条完整链路卡在哪一步。</a:t>
            </a:r>
            <a:endParaRPr sz="1350" b="0">
              <a:solidFill>
                <a:srgbClr val="5B5F66"/>
              </a:solidFill>
            </a:endParaRPr>
          </a:p>
        </p:txBody>
      </p:sp>
      <p:sp>
        <p:nvSpPr>
          <p:cNvPr id="10" name="课后作业：写一页自己的技术总结-card"/>
          <p:cNvSpPr>
            <a:spLocks noGrp="1"/>
          </p:cNvSpPr>
          <p:nvPr/>
        </p:nvSpPr>
        <p:spPr>
          <a:xfrm>
            <a:off x="6457950" y="4591050"/>
            <a:ext cx="4953000" cy="1219200"/>
          </a:xfrm>
          <a:prstGeom prst="roundRect">
            <a:avLst>
              <a:gd name="adj" fmla="val 14063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667500" y="4781550"/>
            <a:ext cx="4533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模块三：发布复盘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67500" y="5219700"/>
            <a:ext cx="4533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5B5F66"/>
                </a:solidFill>
              </a:defRPr>
            </a:pPr>
            <a:r>
              <a:rPr sz="1350" b="0">
                <a:solidFill>
                  <a:srgbClr val="5B5F66"/>
                </a:solidFill>
              </a:rPr>
              <a:t>完成一次最小项目交付，能从功能、架构、风险和优化方向四个角度复盘整个 AI Agent 项目。</a:t>
            </a:r>
            <a:endParaRPr sz="1350" b="0">
              <a:solidFill>
                <a:srgbClr val="5B5F66"/>
              </a:solidFill>
            </a:endParaRPr>
          </a:p>
        </p:txBody>
      </p:sp>
      <p:sp>
        <p:nvSpPr>
          <p:cNvPr id="13" name="page-15"/>
          <p:cNvSpPr>
            <a:spLocks noGrp="1"/>
          </p:cNvSpPr>
          <p:nvPr/>
        </p:nvSpPr>
        <p:spPr>
          <a:xfrm>
            <a:off x="11239500" y="62484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>
                <a:solidFill>
                  <a:srgbClr val="5B5F66"/>
                </a:solidFill>
              </a:defRPr>
            </a:pPr>
            <a:r>
              <a:rPr sz="975">
                <a:solidFill>
                  <a:srgbClr val="5B5F66"/>
                </a:solidFill>
              </a:rPr>
              <a:t>15</a:t>
            </a:r>
            <a:endParaRPr sz="975">
              <a:solidFill>
                <a:srgbClr val="5B5F6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2445</Words>
  <Application>WPS 演示</Application>
  <PresentationFormat>Converted Presentation</PresentationFormat>
  <Paragraphs>255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winner</cp:lastModifiedBy>
  <cp:revision>4</cp:revision>
  <dcterms:created xsi:type="dcterms:W3CDTF">2026-08-01T01:59:59Z</dcterms:created>
  <dcterms:modified xsi:type="dcterms:W3CDTF">2026-08-01T01:59:59Z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5F1C603AEB6E1B5823506D6A73839EC2_42</vt:lpwstr>
  </property>
  <property fmtid="{D5CDD505-2E9C-101B-9397-08002B2CF9AE}" pid="3" name="KSOProductBuildVer">
    <vt:lpwstr>2052-6.5.2.8766</vt:lpwstr>
  </property>
</Properties>
</file>